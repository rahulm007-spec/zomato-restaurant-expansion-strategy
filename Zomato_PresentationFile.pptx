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56" r:id="rId2"/>
    <p:sldId id="262" r:id="rId3"/>
    <p:sldId id="272" r:id="rId4"/>
    <p:sldId id="257" r:id="rId5"/>
    <p:sldId id="280" r:id="rId6"/>
    <p:sldId id="277" r:id="rId7"/>
    <p:sldId id="261" r:id="rId8"/>
    <p:sldId id="259" r:id="rId9"/>
    <p:sldId id="260" r:id="rId10"/>
    <p:sldId id="273" r:id="rId11"/>
    <p:sldId id="278" r:id="rId12"/>
    <p:sldId id="263" r:id="rId13"/>
    <p:sldId id="264" r:id="rId14"/>
    <p:sldId id="265" r:id="rId15"/>
    <p:sldId id="279" r:id="rId16"/>
    <p:sldId id="282" r:id="rId17"/>
    <p:sldId id="275" r:id="rId18"/>
    <p:sldId id="266" r:id="rId19"/>
    <p:sldId id="267" r:id="rId20"/>
    <p:sldId id="281" r:id="rId21"/>
    <p:sldId id="269" r:id="rId22"/>
    <p:sldId id="270" r:id="rId23"/>
    <p:sldId id="271"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396FE-A15C-4457-A7E6-36C076066A50}" v="5" dt="2025-11-01T15:41:40.3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58" autoAdjust="0"/>
  </p:normalViewPr>
  <p:slideViewPr>
    <p:cSldViewPr snapToGrid="0">
      <p:cViewPr varScale="1">
        <p:scale>
          <a:sx n="96" d="100"/>
          <a:sy n="96" d="100"/>
        </p:scale>
        <p:origin x="342" y="5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 book" userId="2ea21d45ec792845" providerId="LiveId" clId="{542FDD71-65C9-427A-98A1-1F490F84B230}"/>
    <pc:docChg chg="undo custSel delSld modSld sldOrd">
      <pc:chgData name="mi book" userId="2ea21d45ec792845" providerId="LiveId" clId="{542FDD71-65C9-427A-98A1-1F490F84B230}" dt="2025-11-01T15:41:58.701" v="548" actId="14100"/>
      <pc:docMkLst>
        <pc:docMk/>
      </pc:docMkLst>
      <pc:sldChg chg="modSp mod">
        <pc:chgData name="mi book" userId="2ea21d45ec792845" providerId="LiveId" clId="{542FDD71-65C9-427A-98A1-1F490F84B230}" dt="2025-10-14T08:25:42.312" v="482" actId="20577"/>
        <pc:sldMkLst>
          <pc:docMk/>
          <pc:sldMk cId="2246851896" sldId="256"/>
        </pc:sldMkLst>
        <pc:spChg chg="mod">
          <ac:chgData name="mi book" userId="2ea21d45ec792845" providerId="LiveId" clId="{542FDD71-65C9-427A-98A1-1F490F84B230}" dt="2025-10-14T08:25:42.312" v="482" actId="20577"/>
          <ac:spMkLst>
            <pc:docMk/>
            <pc:sldMk cId="2246851896" sldId="256"/>
            <ac:spMk id="7" creationId="{2A9D957D-9706-5943-5848-B41FD73374EF}"/>
          </ac:spMkLst>
        </pc:spChg>
      </pc:sldChg>
      <pc:sldChg chg="modSp mod">
        <pc:chgData name="mi book" userId="2ea21d45ec792845" providerId="LiveId" clId="{542FDD71-65C9-427A-98A1-1F490F84B230}" dt="2025-10-10T08:31:54.454" v="136" actId="255"/>
        <pc:sldMkLst>
          <pc:docMk/>
          <pc:sldMk cId="1556603276" sldId="257"/>
        </pc:sldMkLst>
        <pc:spChg chg="mod">
          <ac:chgData name="mi book" userId="2ea21d45ec792845" providerId="LiveId" clId="{542FDD71-65C9-427A-98A1-1F490F84B230}" dt="2025-10-10T08:31:54.454" v="136" actId="255"/>
          <ac:spMkLst>
            <pc:docMk/>
            <pc:sldMk cId="1556603276" sldId="257"/>
            <ac:spMk id="2" creationId="{AFD16DD8-B974-F7FD-6655-5B7DB472234A}"/>
          </ac:spMkLst>
        </pc:spChg>
      </pc:sldChg>
      <pc:sldChg chg="modSp mod">
        <pc:chgData name="mi book" userId="2ea21d45ec792845" providerId="LiveId" clId="{542FDD71-65C9-427A-98A1-1F490F84B230}" dt="2025-10-10T08:35:00.420" v="149" actId="404"/>
        <pc:sldMkLst>
          <pc:docMk/>
          <pc:sldMk cId="2700074481" sldId="259"/>
        </pc:sldMkLst>
        <pc:spChg chg="mod">
          <ac:chgData name="mi book" userId="2ea21d45ec792845" providerId="LiveId" clId="{542FDD71-65C9-427A-98A1-1F490F84B230}" dt="2025-10-10T08:34:32.275" v="146" actId="1076"/>
          <ac:spMkLst>
            <pc:docMk/>
            <pc:sldMk cId="2700074481" sldId="259"/>
            <ac:spMk id="2" creationId="{79B79C84-8903-2C71-38AD-869DEFBD726D}"/>
          </ac:spMkLst>
        </pc:spChg>
        <pc:spChg chg="mod">
          <ac:chgData name="mi book" userId="2ea21d45ec792845" providerId="LiveId" clId="{542FDD71-65C9-427A-98A1-1F490F84B230}" dt="2025-10-10T08:34:44.752" v="147" actId="255"/>
          <ac:spMkLst>
            <pc:docMk/>
            <pc:sldMk cId="2700074481" sldId="259"/>
            <ac:spMk id="4" creationId="{AAAB3792-3497-9302-665D-060363F2629E}"/>
          </ac:spMkLst>
        </pc:spChg>
        <pc:spChg chg="mod">
          <ac:chgData name="mi book" userId="2ea21d45ec792845" providerId="LiveId" clId="{542FDD71-65C9-427A-98A1-1F490F84B230}" dt="2025-10-10T08:34:55.235" v="148" actId="255"/>
          <ac:spMkLst>
            <pc:docMk/>
            <pc:sldMk cId="2700074481" sldId="259"/>
            <ac:spMk id="6" creationId="{08A8A40B-80C4-345D-504C-5D0ABEA21EB1}"/>
          </ac:spMkLst>
        </pc:spChg>
        <pc:spChg chg="mod">
          <ac:chgData name="mi book" userId="2ea21d45ec792845" providerId="LiveId" clId="{542FDD71-65C9-427A-98A1-1F490F84B230}" dt="2025-10-10T08:35:00.420" v="149" actId="404"/>
          <ac:spMkLst>
            <pc:docMk/>
            <pc:sldMk cId="2700074481" sldId="259"/>
            <ac:spMk id="8" creationId="{CAAADE51-5F7E-F9F2-A7E3-EFD7CEBE015D}"/>
          </ac:spMkLst>
        </pc:spChg>
      </pc:sldChg>
      <pc:sldChg chg="modSp mod">
        <pc:chgData name="mi book" userId="2ea21d45ec792845" providerId="LiveId" clId="{542FDD71-65C9-427A-98A1-1F490F84B230}" dt="2025-10-14T08:19:07.666" v="467" actId="403"/>
        <pc:sldMkLst>
          <pc:docMk/>
          <pc:sldMk cId="1329617550" sldId="260"/>
        </pc:sldMkLst>
        <pc:spChg chg="mod">
          <ac:chgData name="mi book" userId="2ea21d45ec792845" providerId="LiveId" clId="{542FDD71-65C9-427A-98A1-1F490F84B230}" dt="2025-10-14T08:18:39.357" v="466" actId="403"/>
          <ac:spMkLst>
            <pc:docMk/>
            <pc:sldMk cId="1329617550" sldId="260"/>
            <ac:spMk id="2" creationId="{3106C267-992F-9193-351E-6BA50C2D9ACD}"/>
          </ac:spMkLst>
        </pc:spChg>
        <pc:spChg chg="mod">
          <ac:chgData name="mi book" userId="2ea21d45ec792845" providerId="LiveId" clId="{542FDD71-65C9-427A-98A1-1F490F84B230}" dt="2025-10-14T08:19:07.666" v="467" actId="403"/>
          <ac:spMkLst>
            <pc:docMk/>
            <pc:sldMk cId="1329617550" sldId="260"/>
            <ac:spMk id="3" creationId="{52208C3B-2C9D-8A35-8EC7-46AEA15F7B6A}"/>
          </ac:spMkLst>
        </pc:spChg>
        <pc:graphicFrameChg chg="mod">
          <ac:chgData name="mi book" userId="2ea21d45ec792845" providerId="LiveId" clId="{542FDD71-65C9-427A-98A1-1F490F84B230}" dt="2025-10-10T08:53:46.865" v="226" actId="1076"/>
          <ac:graphicFrameMkLst>
            <pc:docMk/>
            <pc:sldMk cId="1329617550" sldId="260"/>
            <ac:graphicFrameMk id="4" creationId="{BCC2AEA0-8C25-3D08-4487-3917627F2630}"/>
          </ac:graphicFrameMkLst>
        </pc:graphicFrameChg>
      </pc:sldChg>
      <pc:sldChg chg="modSp mod">
        <pc:chgData name="mi book" userId="2ea21d45ec792845" providerId="LiveId" clId="{542FDD71-65C9-427A-98A1-1F490F84B230}" dt="2025-10-10T08:53:17.314" v="225" actId="1035"/>
        <pc:sldMkLst>
          <pc:docMk/>
          <pc:sldMk cId="1322075427" sldId="261"/>
        </pc:sldMkLst>
        <pc:spChg chg="mod">
          <ac:chgData name="mi book" userId="2ea21d45ec792845" providerId="LiveId" clId="{542FDD71-65C9-427A-98A1-1F490F84B230}" dt="2025-10-10T08:34:21.844" v="145" actId="255"/>
          <ac:spMkLst>
            <pc:docMk/>
            <pc:sldMk cId="1322075427" sldId="261"/>
            <ac:spMk id="4" creationId="{E6288C15-ADFF-A8FE-FA82-AA4402AC2DD4}"/>
          </ac:spMkLst>
        </pc:spChg>
        <pc:spChg chg="mod">
          <ac:chgData name="mi book" userId="2ea21d45ec792845" providerId="LiveId" clId="{542FDD71-65C9-427A-98A1-1F490F84B230}" dt="2025-10-10T08:53:17.314" v="225" actId="1035"/>
          <ac:spMkLst>
            <pc:docMk/>
            <pc:sldMk cId="1322075427" sldId="261"/>
            <ac:spMk id="6" creationId="{D08A41DC-DD08-9228-27C4-C63C0B327335}"/>
          </ac:spMkLst>
        </pc:spChg>
      </pc:sldChg>
      <pc:sldChg chg="modSp mod">
        <pc:chgData name="mi book" userId="2ea21d45ec792845" providerId="LiveId" clId="{542FDD71-65C9-427A-98A1-1F490F84B230}" dt="2025-10-10T08:27:02.056" v="106" actId="14100"/>
        <pc:sldMkLst>
          <pc:docMk/>
          <pc:sldMk cId="156188466" sldId="262"/>
        </pc:sldMkLst>
        <pc:spChg chg="mod">
          <ac:chgData name="mi book" userId="2ea21d45ec792845" providerId="LiveId" clId="{542FDD71-65C9-427A-98A1-1F490F84B230}" dt="2025-10-10T08:26:38.880" v="61" actId="1076"/>
          <ac:spMkLst>
            <pc:docMk/>
            <pc:sldMk cId="156188466" sldId="262"/>
            <ac:spMk id="6" creationId="{AA372508-A205-995E-7EBF-40EF1D208F90}"/>
          </ac:spMkLst>
        </pc:spChg>
        <pc:picChg chg="mod">
          <ac:chgData name="mi book" userId="2ea21d45ec792845" providerId="LiveId" clId="{542FDD71-65C9-427A-98A1-1F490F84B230}" dt="2025-10-10T08:27:02.056" v="106" actId="14100"/>
          <ac:picMkLst>
            <pc:docMk/>
            <pc:sldMk cId="156188466" sldId="262"/>
            <ac:picMk id="5" creationId="{3DAC3BC7-3E88-0310-D70E-1D637E8628DB}"/>
          </ac:picMkLst>
        </pc:picChg>
      </pc:sldChg>
      <pc:sldChg chg="modSp mod">
        <pc:chgData name="mi book" userId="2ea21d45ec792845" providerId="LiveId" clId="{542FDD71-65C9-427A-98A1-1F490F84B230}" dt="2025-10-14T08:10:01.913" v="394" actId="1035"/>
        <pc:sldMkLst>
          <pc:docMk/>
          <pc:sldMk cId="2477491619" sldId="263"/>
        </pc:sldMkLst>
        <pc:spChg chg="mod">
          <ac:chgData name="mi book" userId="2ea21d45ec792845" providerId="LiveId" clId="{542FDD71-65C9-427A-98A1-1F490F84B230}" dt="2025-10-14T08:10:01.913" v="394" actId="1035"/>
          <ac:spMkLst>
            <pc:docMk/>
            <pc:sldMk cId="2477491619" sldId="263"/>
            <ac:spMk id="3" creationId="{48EDF01F-2801-7D1C-3286-731F6DA43580}"/>
          </ac:spMkLst>
        </pc:spChg>
        <pc:graphicFrameChg chg="mod">
          <ac:chgData name="mi book" userId="2ea21d45ec792845" providerId="LiveId" clId="{542FDD71-65C9-427A-98A1-1F490F84B230}" dt="2025-10-10T08:41:50.182" v="167" actId="1076"/>
          <ac:graphicFrameMkLst>
            <pc:docMk/>
            <pc:sldMk cId="2477491619" sldId="263"/>
            <ac:graphicFrameMk id="2" creationId="{CE725F12-C1ED-6407-3A30-B7561169D0F1}"/>
          </ac:graphicFrameMkLst>
        </pc:graphicFrameChg>
      </pc:sldChg>
      <pc:sldChg chg="addSp delSp modSp mod">
        <pc:chgData name="mi book" userId="2ea21d45ec792845" providerId="LiveId" clId="{542FDD71-65C9-427A-98A1-1F490F84B230}" dt="2025-10-14T08:23:50.745" v="476" actId="20577"/>
        <pc:sldMkLst>
          <pc:docMk/>
          <pc:sldMk cId="1058588137" sldId="264"/>
        </pc:sldMkLst>
        <pc:spChg chg="mod">
          <ac:chgData name="mi book" userId="2ea21d45ec792845" providerId="LiveId" clId="{542FDD71-65C9-427A-98A1-1F490F84B230}" dt="2025-10-14T08:23:50.745" v="476" actId="20577"/>
          <ac:spMkLst>
            <pc:docMk/>
            <pc:sldMk cId="1058588137" sldId="264"/>
            <ac:spMk id="8" creationId="{0C0A1E96-16F5-4184-784A-2F05D6DC782F}"/>
          </ac:spMkLst>
        </pc:spChg>
        <pc:graphicFrameChg chg="add mod">
          <ac:chgData name="mi book" userId="2ea21d45ec792845" providerId="LiveId" clId="{542FDD71-65C9-427A-98A1-1F490F84B230}" dt="2025-10-14T08:20:55.237" v="474" actId="14100"/>
          <ac:graphicFrameMkLst>
            <pc:docMk/>
            <pc:sldMk cId="1058588137" sldId="264"/>
            <ac:graphicFrameMk id="2" creationId="{5DAC341C-B39E-2E91-134C-F726938AF46E}"/>
          </ac:graphicFrameMkLst>
        </pc:graphicFrameChg>
      </pc:sldChg>
      <pc:sldChg chg="modSp mod">
        <pc:chgData name="mi book" userId="2ea21d45ec792845" providerId="LiveId" clId="{542FDD71-65C9-427A-98A1-1F490F84B230}" dt="2025-10-14T08:21:39.643" v="475" actId="255"/>
        <pc:sldMkLst>
          <pc:docMk/>
          <pc:sldMk cId="675330674" sldId="265"/>
        </pc:sldMkLst>
        <pc:spChg chg="mod">
          <ac:chgData name="mi book" userId="2ea21d45ec792845" providerId="LiveId" clId="{542FDD71-65C9-427A-98A1-1F490F84B230}" dt="2025-10-14T08:21:39.643" v="475" actId="255"/>
          <ac:spMkLst>
            <pc:docMk/>
            <pc:sldMk cId="675330674" sldId="265"/>
            <ac:spMk id="6" creationId="{318AFF35-A1BA-7507-1755-DFCC08F9B0D6}"/>
          </ac:spMkLst>
        </pc:spChg>
        <pc:graphicFrameChg chg="mod">
          <ac:chgData name="mi book" userId="2ea21d45ec792845" providerId="LiveId" clId="{542FDD71-65C9-427A-98A1-1F490F84B230}" dt="2025-10-10T08:43:36.654" v="179" actId="14100"/>
          <ac:graphicFrameMkLst>
            <pc:docMk/>
            <pc:sldMk cId="675330674" sldId="265"/>
            <ac:graphicFrameMk id="2" creationId="{D260A282-E53B-4BBA-B44A-5ECC208082DD}"/>
          </ac:graphicFrameMkLst>
        </pc:graphicFrameChg>
      </pc:sldChg>
      <pc:sldChg chg="modSp mod">
        <pc:chgData name="mi book" userId="2ea21d45ec792845" providerId="LiveId" clId="{542FDD71-65C9-427A-98A1-1F490F84B230}" dt="2025-10-14T08:16:03.665" v="450" actId="1037"/>
        <pc:sldMkLst>
          <pc:docMk/>
          <pc:sldMk cId="1094057827" sldId="266"/>
        </pc:sldMkLst>
        <pc:spChg chg="mod">
          <ac:chgData name="mi book" userId="2ea21d45ec792845" providerId="LiveId" clId="{542FDD71-65C9-427A-98A1-1F490F84B230}" dt="2025-10-14T08:16:03.665" v="450" actId="1037"/>
          <ac:spMkLst>
            <pc:docMk/>
            <pc:sldMk cId="1094057827" sldId="266"/>
            <ac:spMk id="3" creationId="{F791DFEB-B900-288D-76D1-16BCA2AB293F}"/>
          </ac:spMkLst>
        </pc:spChg>
      </pc:sldChg>
      <pc:sldChg chg="modSp mod">
        <pc:chgData name="mi book" userId="2ea21d45ec792845" providerId="LiveId" clId="{542FDD71-65C9-427A-98A1-1F490F84B230}" dt="2025-10-14T08:16:50.513" v="464" actId="1036"/>
        <pc:sldMkLst>
          <pc:docMk/>
          <pc:sldMk cId="2741638286" sldId="267"/>
        </pc:sldMkLst>
        <pc:spChg chg="mod">
          <ac:chgData name="mi book" userId="2ea21d45ec792845" providerId="LiveId" clId="{542FDD71-65C9-427A-98A1-1F490F84B230}" dt="2025-10-10T08:48:52.050" v="210" actId="20577"/>
          <ac:spMkLst>
            <pc:docMk/>
            <pc:sldMk cId="2741638286" sldId="267"/>
            <ac:spMk id="4" creationId="{F2D6BDC3-05A0-983B-4A1E-6482DB50F77A}"/>
          </ac:spMkLst>
        </pc:spChg>
        <pc:spChg chg="mod">
          <ac:chgData name="mi book" userId="2ea21d45ec792845" providerId="LiveId" clId="{542FDD71-65C9-427A-98A1-1F490F84B230}" dt="2025-10-14T08:16:50.513" v="464" actId="1036"/>
          <ac:spMkLst>
            <pc:docMk/>
            <pc:sldMk cId="2741638286" sldId="267"/>
            <ac:spMk id="6" creationId="{F7FED28F-5345-1167-70EB-47ACF0D9698A}"/>
          </ac:spMkLst>
        </pc:spChg>
        <pc:graphicFrameChg chg="mod">
          <ac:chgData name="mi book" userId="2ea21d45ec792845" providerId="LiveId" clId="{542FDD71-65C9-427A-98A1-1F490F84B230}" dt="2025-10-10T08:13:46.262" v="20" actId="14100"/>
          <ac:graphicFrameMkLst>
            <pc:docMk/>
            <pc:sldMk cId="2741638286" sldId="267"/>
            <ac:graphicFrameMk id="3" creationId="{D60090C6-6883-9EB4-366F-8EBA4BE65843}"/>
          </ac:graphicFrameMkLst>
        </pc:graphicFrameChg>
      </pc:sldChg>
      <pc:sldChg chg="addSp delSp modSp mod">
        <pc:chgData name="mi book" userId="2ea21d45ec792845" providerId="LiveId" clId="{542FDD71-65C9-427A-98A1-1F490F84B230}" dt="2025-11-01T15:41:58.701" v="548" actId="14100"/>
        <pc:sldMkLst>
          <pc:docMk/>
          <pc:sldMk cId="2215267894" sldId="269"/>
        </pc:sldMkLst>
        <pc:spChg chg="mod">
          <ac:chgData name="mi book" userId="2ea21d45ec792845" providerId="LiveId" clId="{542FDD71-65C9-427A-98A1-1F490F84B230}" dt="2025-10-14T08:48:01.543" v="541" actId="14100"/>
          <ac:spMkLst>
            <pc:docMk/>
            <pc:sldMk cId="2215267894" sldId="269"/>
            <ac:spMk id="36" creationId="{7165E537-B86C-452F-D828-7E18E485A86A}"/>
          </ac:spMkLst>
        </pc:spChg>
        <pc:graphicFrameChg chg="del">
          <ac:chgData name="mi book" userId="2ea21d45ec792845" providerId="LiveId" clId="{542FDD71-65C9-427A-98A1-1F490F84B230}" dt="2025-11-01T15:41:34.134" v="543" actId="478"/>
          <ac:graphicFrameMkLst>
            <pc:docMk/>
            <pc:sldMk cId="2215267894" sldId="269"/>
            <ac:graphicFrameMk id="2" creationId="{495B49D7-34D9-8B9F-A59D-F93EB0BDAB72}"/>
          </ac:graphicFrameMkLst>
        </pc:graphicFrameChg>
        <pc:picChg chg="add mod">
          <ac:chgData name="mi book" userId="2ea21d45ec792845" providerId="LiveId" clId="{542FDD71-65C9-427A-98A1-1F490F84B230}" dt="2025-11-01T15:41:58.701" v="548" actId="14100"/>
          <ac:picMkLst>
            <pc:docMk/>
            <pc:sldMk cId="2215267894" sldId="269"/>
            <ac:picMk id="4" creationId="{FEA8BE78-3983-1DFB-F81A-A04317F70343}"/>
          </ac:picMkLst>
        </pc:picChg>
      </pc:sldChg>
      <pc:sldChg chg="modSp mod">
        <pc:chgData name="mi book" userId="2ea21d45ec792845" providerId="LiveId" clId="{542FDD71-65C9-427A-98A1-1F490F84B230}" dt="2025-10-14T08:44:56.321" v="517" actId="20577"/>
        <pc:sldMkLst>
          <pc:docMk/>
          <pc:sldMk cId="3311442340" sldId="270"/>
        </pc:sldMkLst>
        <pc:spChg chg="mod">
          <ac:chgData name="mi book" userId="2ea21d45ec792845" providerId="LiveId" clId="{542FDD71-65C9-427A-98A1-1F490F84B230}" dt="2025-10-14T08:44:56.321" v="517" actId="20577"/>
          <ac:spMkLst>
            <pc:docMk/>
            <pc:sldMk cId="3311442340" sldId="270"/>
            <ac:spMk id="6" creationId="{DB664B89-F0DC-0E76-EE8C-F794EF4289FD}"/>
          </ac:spMkLst>
        </pc:spChg>
      </pc:sldChg>
      <pc:sldChg chg="modSp mod">
        <pc:chgData name="mi book" userId="2ea21d45ec792845" providerId="LiveId" clId="{542FDD71-65C9-427A-98A1-1F490F84B230}" dt="2025-10-14T08:46:07.258" v="530" actId="1036"/>
        <pc:sldMkLst>
          <pc:docMk/>
          <pc:sldMk cId="2214126789" sldId="271"/>
        </pc:sldMkLst>
        <pc:spChg chg="mod">
          <ac:chgData name="mi book" userId="2ea21d45ec792845" providerId="LiveId" clId="{542FDD71-65C9-427A-98A1-1F490F84B230}" dt="2025-10-14T08:42:17.308" v="508" actId="255"/>
          <ac:spMkLst>
            <pc:docMk/>
            <pc:sldMk cId="2214126789" sldId="271"/>
            <ac:spMk id="3" creationId="{D83933D2-BDF7-BB77-419E-ACC3AEF0BB5C}"/>
          </ac:spMkLst>
        </pc:spChg>
        <pc:spChg chg="mod">
          <ac:chgData name="mi book" userId="2ea21d45ec792845" providerId="LiveId" clId="{542FDD71-65C9-427A-98A1-1F490F84B230}" dt="2025-10-14T08:46:07.258" v="530" actId="1036"/>
          <ac:spMkLst>
            <pc:docMk/>
            <pc:sldMk cId="2214126789" sldId="271"/>
            <ac:spMk id="6" creationId="{F821AB78-EB3E-A2BC-2898-07DE54FBF5E0}"/>
          </ac:spMkLst>
        </pc:spChg>
        <pc:spChg chg="mod">
          <ac:chgData name="mi book" userId="2ea21d45ec792845" providerId="LiveId" clId="{542FDD71-65C9-427A-98A1-1F490F84B230}" dt="2025-10-14T08:42:29.822" v="509" actId="255"/>
          <ac:spMkLst>
            <pc:docMk/>
            <pc:sldMk cId="2214126789" sldId="271"/>
            <ac:spMk id="7" creationId="{F07BD908-8682-B19D-C097-5B552B4DCF71}"/>
          </ac:spMkLst>
        </pc:spChg>
        <pc:spChg chg="mod">
          <ac:chgData name="mi book" userId="2ea21d45ec792845" providerId="LiveId" clId="{542FDD71-65C9-427A-98A1-1F490F84B230}" dt="2025-10-14T08:42:00.871" v="507" actId="255"/>
          <ac:spMkLst>
            <pc:docMk/>
            <pc:sldMk cId="2214126789" sldId="271"/>
            <ac:spMk id="9" creationId="{A98EB0A4-0D67-5244-9C0E-8557A11D6AE7}"/>
          </ac:spMkLst>
        </pc:spChg>
        <pc:spChg chg="mod">
          <ac:chgData name="mi book" userId="2ea21d45ec792845" providerId="LiveId" clId="{542FDD71-65C9-427A-98A1-1F490F84B230}" dt="2025-10-14T08:41:39.878" v="506" actId="255"/>
          <ac:spMkLst>
            <pc:docMk/>
            <pc:sldMk cId="2214126789" sldId="271"/>
            <ac:spMk id="11" creationId="{7AC236A1-4CE3-7443-82BA-2FA511C292C2}"/>
          </ac:spMkLst>
        </pc:spChg>
      </pc:sldChg>
      <pc:sldChg chg="modSp mod">
        <pc:chgData name="mi book" userId="2ea21d45ec792845" providerId="LiveId" clId="{542FDD71-65C9-427A-98A1-1F490F84B230}" dt="2025-10-10T08:30:33.298" v="131" actId="20577"/>
        <pc:sldMkLst>
          <pc:docMk/>
          <pc:sldMk cId="1658022732" sldId="272"/>
        </pc:sldMkLst>
        <pc:spChg chg="mod">
          <ac:chgData name="mi book" userId="2ea21d45ec792845" providerId="LiveId" clId="{542FDD71-65C9-427A-98A1-1F490F84B230}" dt="2025-10-10T08:30:33.298" v="131" actId="20577"/>
          <ac:spMkLst>
            <pc:docMk/>
            <pc:sldMk cId="1658022732" sldId="272"/>
            <ac:spMk id="17" creationId="{C6F4A094-4B8A-7DB1-CC72-C6919C440C46}"/>
          </ac:spMkLst>
        </pc:spChg>
      </pc:sldChg>
      <pc:sldChg chg="modSp mod">
        <pc:chgData name="mi book" userId="2ea21d45ec792845" providerId="LiveId" clId="{542FDD71-65C9-427A-98A1-1F490F84B230}" dt="2025-10-10T08:39:50.318" v="163" actId="14100"/>
        <pc:sldMkLst>
          <pc:docMk/>
          <pc:sldMk cId="2553410641" sldId="273"/>
        </pc:sldMkLst>
        <pc:graphicFrameChg chg="mod">
          <ac:chgData name="mi book" userId="2ea21d45ec792845" providerId="LiveId" clId="{542FDD71-65C9-427A-98A1-1F490F84B230}" dt="2025-10-10T08:39:50.318" v="163" actId="14100"/>
          <ac:graphicFrameMkLst>
            <pc:docMk/>
            <pc:sldMk cId="2553410641" sldId="273"/>
            <ac:graphicFrameMk id="2" creationId="{8B40D7C5-2C76-043A-93F1-BB6091F39B59}"/>
          </ac:graphicFrameMkLst>
        </pc:graphicFrameChg>
      </pc:sldChg>
      <pc:sldChg chg="modSp mod">
        <pc:chgData name="mi book" userId="2ea21d45ec792845" providerId="LiveId" clId="{542FDD71-65C9-427A-98A1-1F490F84B230}" dt="2025-10-14T08:15:12.939" v="442" actId="1037"/>
        <pc:sldMkLst>
          <pc:docMk/>
          <pc:sldMk cId="3150051673" sldId="275"/>
        </pc:sldMkLst>
        <pc:spChg chg="mod">
          <ac:chgData name="mi book" userId="2ea21d45ec792845" providerId="LiveId" clId="{542FDD71-65C9-427A-98A1-1F490F84B230}" dt="2025-10-14T08:15:12.939" v="442" actId="1037"/>
          <ac:spMkLst>
            <pc:docMk/>
            <pc:sldMk cId="3150051673" sldId="275"/>
            <ac:spMk id="5" creationId="{30A3EC10-F2A4-BDCA-768E-FFA150660231}"/>
          </ac:spMkLst>
        </pc:spChg>
        <pc:spChg chg="mod">
          <ac:chgData name="mi book" userId="2ea21d45ec792845" providerId="LiveId" clId="{542FDD71-65C9-427A-98A1-1F490F84B230}" dt="2025-10-10T08:46:47.048" v="202" actId="255"/>
          <ac:spMkLst>
            <pc:docMk/>
            <pc:sldMk cId="3150051673" sldId="275"/>
            <ac:spMk id="10" creationId="{9F54B095-A265-4B1C-BAD7-6364D1D7E291}"/>
          </ac:spMkLst>
        </pc:spChg>
      </pc:sldChg>
      <pc:sldChg chg="modSp mod ord">
        <pc:chgData name="mi book" userId="2ea21d45ec792845" providerId="LiveId" clId="{542FDD71-65C9-427A-98A1-1F490F84B230}" dt="2025-10-10T08:39:06.509" v="161" actId="255"/>
        <pc:sldMkLst>
          <pc:docMk/>
          <pc:sldMk cId="969189815" sldId="277"/>
        </pc:sldMkLst>
        <pc:spChg chg="mod">
          <ac:chgData name="mi book" userId="2ea21d45ec792845" providerId="LiveId" clId="{542FDD71-65C9-427A-98A1-1F490F84B230}" dt="2025-10-10T08:39:06.509" v="161" actId="255"/>
          <ac:spMkLst>
            <pc:docMk/>
            <pc:sldMk cId="969189815" sldId="277"/>
            <ac:spMk id="3" creationId="{97FC7F22-6173-3486-8ADF-790BB7A7EAF6}"/>
          </ac:spMkLst>
        </pc:spChg>
        <pc:spChg chg="mod">
          <ac:chgData name="mi book" userId="2ea21d45ec792845" providerId="LiveId" clId="{542FDD71-65C9-427A-98A1-1F490F84B230}" dt="2025-10-10T08:37:46.546" v="159" actId="20577"/>
          <ac:spMkLst>
            <pc:docMk/>
            <pc:sldMk cId="969189815" sldId="277"/>
            <ac:spMk id="5" creationId="{7B894AE3-725A-7523-BF76-05EC9B544F8C}"/>
          </ac:spMkLst>
        </pc:spChg>
        <pc:spChg chg="mod">
          <ac:chgData name="mi book" userId="2ea21d45ec792845" providerId="LiveId" clId="{542FDD71-65C9-427A-98A1-1F490F84B230}" dt="2025-10-10T08:28:39.060" v="122" actId="20577"/>
          <ac:spMkLst>
            <pc:docMk/>
            <pc:sldMk cId="969189815" sldId="277"/>
            <ac:spMk id="8" creationId="{55C85249-4AAB-2CF4-5ECC-E7BC155B8605}"/>
          </ac:spMkLst>
        </pc:spChg>
      </pc:sldChg>
      <pc:sldChg chg="modSp mod">
        <pc:chgData name="mi book" userId="2ea21d45ec792845" providerId="LiveId" clId="{542FDD71-65C9-427A-98A1-1F490F84B230}" dt="2025-10-14T08:09:44.752" v="385" actId="1036"/>
        <pc:sldMkLst>
          <pc:docMk/>
          <pc:sldMk cId="1358884090" sldId="278"/>
        </pc:sldMkLst>
        <pc:spChg chg="mod">
          <ac:chgData name="mi book" userId="2ea21d45ec792845" providerId="LiveId" clId="{542FDD71-65C9-427A-98A1-1F490F84B230}" dt="2025-10-14T08:09:44.752" v="385" actId="1036"/>
          <ac:spMkLst>
            <pc:docMk/>
            <pc:sldMk cId="1358884090" sldId="278"/>
            <ac:spMk id="6" creationId="{BA446227-6716-B98A-2A6C-1344D76485FA}"/>
          </ac:spMkLst>
        </pc:spChg>
        <pc:graphicFrameChg chg="mod">
          <ac:chgData name="mi book" userId="2ea21d45ec792845" providerId="LiveId" clId="{542FDD71-65C9-427A-98A1-1F490F84B230}" dt="2025-10-10T08:40:08.153" v="164" actId="14100"/>
          <ac:graphicFrameMkLst>
            <pc:docMk/>
            <pc:sldMk cId="1358884090" sldId="278"/>
            <ac:graphicFrameMk id="2" creationId="{6550DD69-3F56-D39E-B993-938226F87815}"/>
          </ac:graphicFrameMkLst>
        </pc:graphicFrameChg>
      </pc:sldChg>
      <pc:sldChg chg="modSp mod">
        <pc:chgData name="mi book" userId="2ea21d45ec792845" providerId="LiveId" clId="{542FDD71-65C9-427A-98A1-1F490F84B230}" dt="2025-10-14T08:12:12.956" v="409" actId="1035"/>
        <pc:sldMkLst>
          <pc:docMk/>
          <pc:sldMk cId="228739333" sldId="279"/>
        </pc:sldMkLst>
        <pc:spChg chg="mod">
          <ac:chgData name="mi book" userId="2ea21d45ec792845" providerId="LiveId" clId="{542FDD71-65C9-427A-98A1-1F490F84B230}" dt="2025-10-14T08:12:12.956" v="409" actId="1035"/>
          <ac:spMkLst>
            <pc:docMk/>
            <pc:sldMk cId="228739333" sldId="279"/>
            <ac:spMk id="5" creationId="{A2976078-06F4-CB14-8816-8B9911181DFA}"/>
          </ac:spMkLst>
        </pc:spChg>
      </pc:sldChg>
      <pc:sldChg chg="modSp mod">
        <pc:chgData name="mi book" userId="2ea21d45ec792845" providerId="LiveId" clId="{542FDD71-65C9-427A-98A1-1F490F84B230}" dt="2025-10-10T08:49:58.499" v="213" actId="20577"/>
        <pc:sldMkLst>
          <pc:docMk/>
          <pc:sldMk cId="3859421481" sldId="281"/>
        </pc:sldMkLst>
        <pc:spChg chg="mod">
          <ac:chgData name="mi book" userId="2ea21d45ec792845" providerId="LiveId" clId="{542FDD71-65C9-427A-98A1-1F490F84B230}" dt="2025-10-10T08:49:58.499" v="213" actId="20577"/>
          <ac:spMkLst>
            <pc:docMk/>
            <pc:sldMk cId="3859421481" sldId="281"/>
            <ac:spMk id="6" creationId="{B00FF99E-E414-D1ED-F952-A6F299863C1D}"/>
          </ac:spMkLst>
        </pc:spChg>
        <pc:graphicFrameChg chg="mod">
          <ac:chgData name="mi book" userId="2ea21d45ec792845" providerId="LiveId" clId="{542FDD71-65C9-427A-98A1-1F490F84B230}" dt="2025-10-10T08:49:15.510" v="212" actId="14100"/>
          <ac:graphicFrameMkLst>
            <pc:docMk/>
            <pc:sldMk cId="3859421481" sldId="281"/>
            <ac:graphicFrameMk id="2" creationId="{92B320CC-C998-4592-20EF-07F75A565D9E}"/>
          </ac:graphicFrameMkLst>
        </pc:graphicFrameChg>
      </pc:sldChg>
      <pc:sldChg chg="delSp modSp mod">
        <pc:chgData name="mi book" userId="2ea21d45ec792845" providerId="LiveId" clId="{542FDD71-65C9-427A-98A1-1F490F84B230}" dt="2025-10-14T08:17:31.428" v="465" actId="20577"/>
        <pc:sldMkLst>
          <pc:docMk/>
          <pc:sldMk cId="4153030868" sldId="282"/>
        </pc:sldMkLst>
        <pc:spChg chg="mod">
          <ac:chgData name="mi book" userId="2ea21d45ec792845" providerId="LiveId" clId="{542FDD71-65C9-427A-98A1-1F490F84B230}" dt="2025-10-14T08:17:31.428" v="465" actId="20577"/>
          <ac:spMkLst>
            <pc:docMk/>
            <pc:sldMk cId="4153030868" sldId="282"/>
            <ac:spMk id="5" creationId="{273A44A6-2AF4-2CBA-B6CA-86677548A45E}"/>
          </ac:spMkLst>
        </pc:spChg>
        <pc:graphicFrameChg chg="mod">
          <ac:chgData name="mi book" userId="2ea21d45ec792845" providerId="LiveId" clId="{542FDD71-65C9-427A-98A1-1F490F84B230}" dt="2025-10-10T08:46:29.584" v="201" actId="14100"/>
          <ac:graphicFrameMkLst>
            <pc:docMk/>
            <pc:sldMk cId="4153030868" sldId="282"/>
            <ac:graphicFrameMk id="2" creationId="{2B0E2157-44F6-6CD5-1D2D-22E324EE2175}"/>
          </ac:graphicFrameMkLst>
        </pc:graphicFrameChg>
      </pc:sldChg>
      <pc:sldChg chg="modSp del mod">
        <pc:chgData name="mi book" userId="2ea21d45ec792845" providerId="LiveId" clId="{542FDD71-65C9-427A-98A1-1F490F84B230}" dt="2025-11-01T15:34:41.465" v="542" actId="2696"/>
        <pc:sldMkLst>
          <pc:docMk/>
          <pc:sldMk cId="1075657360" sldId="28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2ea21d45ec792845/Desktop/Zomato_Data_r.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2EA21D45EC792845/Documents/Zomato_Data_p.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[Zomato_Data_r.xlsx]Analysis of Data!PivotTable14</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b="1">
                <a:solidFill>
                  <a:sysClr val="windowText" lastClr="000000"/>
                </a:solidFill>
              </a:rPr>
              <a:t>No</a:t>
            </a:r>
            <a:r>
              <a:rPr lang="en-US" sz="1100" b="1" baseline="0">
                <a:solidFill>
                  <a:sysClr val="windowText" lastClr="000000"/>
                </a:solidFill>
              </a:rPr>
              <a:t> of restaurant opend each year</a:t>
            </a:r>
            <a:endParaRPr lang="en-US" sz="1100" b="1">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35117193057214E-2"/>
          <c:y val="6.6367415634195612E-2"/>
          <c:w val="0.78303726323213207"/>
          <c:h val="0.82886511333131274"/>
        </c:manualLayout>
      </c:layout>
      <c:barChart>
        <c:barDir val="bar"/>
        <c:grouping val="clustered"/>
        <c:varyColors val="0"/>
        <c:ser>
          <c:idx val="0"/>
          <c:order val="0"/>
          <c:tx>
            <c:strRef>
              <c:f>'Analysis of Data'!$F$2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 of Data'!$E$3:$E$12</c:f>
              <c:strCache>
                <c:ptCount val="9"/>
                <c:pt idx="0">
                  <c:v>2010</c:v>
                </c:pt>
                <c:pt idx="1">
                  <c:v>2011</c:v>
                </c:pt>
                <c:pt idx="2">
                  <c:v>2012</c:v>
                </c:pt>
                <c:pt idx="3">
                  <c:v>2013</c:v>
                </c:pt>
                <c:pt idx="4">
                  <c:v>2014</c:v>
                </c:pt>
                <c:pt idx="5">
                  <c:v>2015</c:v>
                </c:pt>
                <c:pt idx="6">
                  <c:v>2016</c:v>
                </c:pt>
                <c:pt idx="7">
                  <c:v>2017</c:v>
                </c:pt>
                <c:pt idx="8">
                  <c:v>2018</c:v>
                </c:pt>
              </c:strCache>
            </c:strRef>
          </c:cat>
          <c:val>
            <c:numRef>
              <c:f>'Analysis of Data'!$F$3:$F$12</c:f>
              <c:numCache>
                <c:formatCode>General</c:formatCode>
                <c:ptCount val="9"/>
                <c:pt idx="0">
                  <c:v>1080</c:v>
                </c:pt>
                <c:pt idx="1">
                  <c:v>1098</c:v>
                </c:pt>
                <c:pt idx="2">
                  <c:v>1022</c:v>
                </c:pt>
                <c:pt idx="3">
                  <c:v>1061</c:v>
                </c:pt>
                <c:pt idx="4">
                  <c:v>1051</c:v>
                </c:pt>
                <c:pt idx="5">
                  <c:v>1024</c:v>
                </c:pt>
                <c:pt idx="6">
                  <c:v>1027</c:v>
                </c:pt>
                <c:pt idx="7">
                  <c:v>1086</c:v>
                </c:pt>
                <c:pt idx="8">
                  <c:v>1102</c:v>
                </c:pt>
              </c:numCache>
            </c:numRef>
          </c:val>
          <c:extLst>
            <c:ext xmlns:c16="http://schemas.microsoft.com/office/drawing/2014/chart" uri="{C3380CC4-5D6E-409C-BE32-E72D297353CC}">
              <c16:uniqueId val="{00000000-CD27-4C84-8763-9C1001694DE1}"/>
            </c:ext>
          </c:extLst>
        </c:ser>
        <c:dLbls>
          <c:dLblPos val="outEnd"/>
          <c:showLegendKey val="0"/>
          <c:showVal val="1"/>
          <c:showCatName val="0"/>
          <c:showSerName val="0"/>
          <c:showPercent val="0"/>
          <c:showBubbleSize val="0"/>
        </c:dLbls>
        <c:gapWidth val="182"/>
        <c:axId val="721395215"/>
        <c:axId val="721388975"/>
      </c:barChart>
      <c:catAx>
        <c:axId val="7213952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388975"/>
        <c:crosses val="autoZero"/>
        <c:auto val="1"/>
        <c:lblAlgn val="ctr"/>
        <c:lblOffset val="100"/>
        <c:noMultiLvlLbl val="0"/>
      </c:catAx>
      <c:valAx>
        <c:axId val="7213889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39521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[Zomato_Data_r.xlsx]Analysis of Data!PivotTable13</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b="1">
                <a:solidFill>
                  <a:sysClr val="windowText" lastClr="000000"/>
                </a:solidFill>
              </a:rPr>
              <a:t>Avg. voters per country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 of Data'!$K$6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 of Data'!$J$7:$J$22</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'Analysis of Data'!$K$7:$K$22</c:f>
              <c:numCache>
                <c:formatCode>0.0</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601E-40C5-B5D8-773BA73818DD}"/>
            </c:ext>
          </c:extLst>
        </c:ser>
        <c:dLbls>
          <c:showLegendKey val="0"/>
          <c:showVal val="1"/>
          <c:showCatName val="0"/>
          <c:showSerName val="0"/>
          <c:showPercent val="0"/>
          <c:showBubbleSize val="0"/>
        </c:dLbls>
        <c:gapWidth val="150"/>
        <c:axId val="721397135"/>
        <c:axId val="721387535"/>
      </c:barChart>
      <c:catAx>
        <c:axId val="721397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387535"/>
        <c:crosses val="autoZero"/>
        <c:auto val="1"/>
        <c:lblAlgn val="ctr"/>
        <c:lblOffset val="100"/>
        <c:noMultiLvlLbl val="0"/>
      </c:catAx>
      <c:valAx>
        <c:axId val="721387535"/>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3971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[Zomato_Data_r.xlsx]Analysis of Data!PivotTable1</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country</a:t>
            </a:r>
            <a:r>
              <a:rPr lang="en-US" baseline="0"/>
              <a:t> wise count of restaurant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'Analysis of Data'!$B$2</c:f>
              <c:strCache>
                <c:ptCount val="1"/>
                <c:pt idx="0">
                  <c:v>Total</c:v>
                </c:pt>
              </c:strCache>
            </c:strRef>
          </c:tx>
          <c:spPr>
            <a:ln w="28575" cap="rnd">
              <a:solidFill>
                <a:schemeClr val="accent1"/>
              </a:solidFill>
              <a:round/>
            </a:ln>
            <a:effectLst/>
          </c:spPr>
          <c:marker>
            <c:symbol val="none"/>
          </c:marker>
          <c:cat>
            <c:strRef>
              <c:f>'Analysis of Data'!$A$3:$A$18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'Analysis of Data'!$B$3:$B$18</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smooth val="0"/>
          <c:extLst>
            <c:ext xmlns:c16="http://schemas.microsoft.com/office/drawing/2014/chart" uri="{C3380CC4-5D6E-409C-BE32-E72D297353CC}">
              <c16:uniqueId val="{00000000-E54D-4BF5-BFF3-3E8F717CBEE0}"/>
            </c:ext>
          </c:extLst>
        </c:ser>
        <c:dLbls>
          <c:showLegendKey val="0"/>
          <c:showVal val="0"/>
          <c:showCatName val="0"/>
          <c:showSerName val="0"/>
          <c:showPercent val="0"/>
          <c:showBubbleSize val="0"/>
        </c:dLbls>
        <c:smooth val="0"/>
        <c:axId val="1763643984"/>
        <c:axId val="1763644464"/>
      </c:lineChart>
      <c:catAx>
        <c:axId val="1763643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644464"/>
        <c:crosses val="autoZero"/>
        <c:auto val="1"/>
        <c:lblAlgn val="ctr"/>
        <c:lblOffset val="100"/>
        <c:noMultiLvlLbl val="0"/>
      </c:catAx>
      <c:valAx>
        <c:axId val="17636444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643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[Zomato_Data_r.xlsx]Suggesting_Countries &amp; cities!PivotTable12</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b="1">
                <a:solidFill>
                  <a:sysClr val="windowText" lastClr="000000"/>
                </a:solidFill>
              </a:rPr>
              <a:t>Avg.</a:t>
            </a:r>
            <a:r>
              <a:rPr lang="en-US" sz="1100" b="1" baseline="0">
                <a:solidFill>
                  <a:sysClr val="windowText" lastClr="000000"/>
                </a:solidFill>
              </a:rPr>
              <a:t> rating per country</a:t>
            </a:r>
            <a:endParaRPr lang="en-US" sz="1100" b="1">
              <a:solidFill>
                <a:sysClr val="windowText" lastClr="000000"/>
              </a:solidFill>
            </a:endParaRPr>
          </a:p>
        </c:rich>
      </c:tx>
      <c:layout>
        <c:manualLayout>
          <c:xMode val="edge"/>
          <c:yMode val="edge"/>
          <c:x val="0.38597222222222222"/>
          <c:y val="6.379410906969962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'Suggesting_Countries &amp; cities'!$B$22</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'Suggesting_Countries &amp; cities'!$A$23:$A$38</c:f>
              <c:strCache>
                <c:ptCount val="15"/>
                <c:pt idx="0">
                  <c:v>Philippines</c:v>
                </c:pt>
                <c:pt idx="1">
                  <c:v>Turkey</c:v>
                </c:pt>
                <c:pt idx="2">
                  <c:v>Indonesia</c:v>
                </c:pt>
                <c:pt idx="3">
                  <c:v>New Zealand</c:v>
                </c:pt>
                <c:pt idx="4">
                  <c:v>United Arab Emirates</c:v>
                </c:pt>
                <c:pt idx="5">
                  <c:v>South Africa</c:v>
                </c:pt>
                <c:pt idx="6">
                  <c:v>United Kingdom</c:v>
                </c:pt>
                <c:pt idx="7">
                  <c:v>Qatar</c:v>
                </c:pt>
                <c:pt idx="8">
                  <c:v>United States of America</c:v>
                </c:pt>
                <c:pt idx="9">
                  <c:v>Sri Lanka</c:v>
                </c:pt>
                <c:pt idx="10">
                  <c:v>Brazil</c:v>
                </c:pt>
                <c:pt idx="11">
                  <c:v>Australia</c:v>
                </c:pt>
                <c:pt idx="12">
                  <c:v>Singapore</c:v>
                </c:pt>
                <c:pt idx="13">
                  <c:v>Canada</c:v>
                </c:pt>
                <c:pt idx="14">
                  <c:v>India</c:v>
                </c:pt>
              </c:strCache>
            </c:strRef>
          </c:cat>
          <c:val>
            <c:numRef>
              <c:f>'Suggesting_Countries &amp; cities'!$B$23:$B$38</c:f>
              <c:numCache>
                <c:formatCode>0.0</c:formatCode>
                <c:ptCount val="15"/>
                <c:pt idx="0">
                  <c:v>4.4681818181818187</c:v>
                </c:pt>
                <c:pt idx="1">
                  <c:v>4.3</c:v>
                </c:pt>
                <c:pt idx="2">
                  <c:v>4.295238095238096</c:v>
                </c:pt>
                <c:pt idx="3">
                  <c:v>4.2624999999999993</c:v>
                </c:pt>
                <c:pt idx="4">
                  <c:v>4.2333333333333352</c:v>
                </c:pt>
                <c:pt idx="5">
                  <c:v>4.2100000000000009</c:v>
                </c:pt>
                <c:pt idx="6">
                  <c:v>4.0999999999999996</c:v>
                </c:pt>
                <c:pt idx="7">
                  <c:v>4.0599999999999996</c:v>
                </c:pt>
                <c:pt idx="8">
                  <c:v>4.011290322580642</c:v>
                </c:pt>
                <c:pt idx="9">
                  <c:v>3.87</c:v>
                </c:pt>
                <c:pt idx="10">
                  <c:v>3.8466666666666667</c:v>
                </c:pt>
                <c:pt idx="11">
                  <c:v>3.6583333333333337</c:v>
                </c:pt>
                <c:pt idx="12">
                  <c:v>3.5750000000000002</c:v>
                </c:pt>
                <c:pt idx="13">
                  <c:v>3.5750000000000002</c:v>
                </c:pt>
                <c:pt idx="14">
                  <c:v>2.7705501618122987</c:v>
                </c:pt>
              </c:numCache>
            </c:numRef>
          </c:val>
          <c:smooth val="0"/>
          <c:extLst>
            <c:ext xmlns:c16="http://schemas.microsoft.com/office/drawing/2014/chart" uri="{C3380CC4-5D6E-409C-BE32-E72D297353CC}">
              <c16:uniqueId val="{00000000-99D1-4829-9619-1B4B1BF7F2B7}"/>
            </c:ext>
          </c:extLst>
        </c:ser>
        <c:dLbls>
          <c:dLblPos val="t"/>
          <c:showLegendKey val="0"/>
          <c:showVal val="1"/>
          <c:showCatName val="0"/>
          <c:showSerName val="0"/>
          <c:showPercent val="0"/>
          <c:showBubbleSize val="0"/>
        </c:dLbls>
        <c:marker val="1"/>
        <c:smooth val="0"/>
        <c:axId val="721430735"/>
        <c:axId val="721417775"/>
      </c:lineChart>
      <c:catAx>
        <c:axId val="721430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417775"/>
        <c:crosses val="autoZero"/>
        <c:auto val="1"/>
        <c:lblAlgn val="ctr"/>
        <c:lblOffset val="100"/>
        <c:noMultiLvlLbl val="0"/>
      </c:catAx>
      <c:valAx>
        <c:axId val="721417775"/>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4307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[Zomato_Data_r.xlsx]Suggesting_Countries &amp; cities!PivotTable1</c:name>
    <c:fmtId val="-1"/>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NO. of restaurants in suggested cities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200000"/>
            </a:lightRig>
          </a:scene3d>
          <a:sp3d>
            <a:bevelT w="63500" h="25400"/>
          </a:sp3d>
        </c:spPr>
        <c:marker>
          <c:symbol val="circle"/>
          <c:size val="5"/>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w="12700">
              <a:solidFill>
                <a:schemeClr val="lt2"/>
              </a:solidFill>
              <a:round/>
            </a:ln>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'Suggesting_Countries &amp; cities'!$B$99</c:f>
              <c:strCache>
                <c:ptCount val="1"/>
                <c:pt idx="0">
                  <c:v>Total</c:v>
                </c:pt>
              </c:strCache>
            </c:strRef>
          </c:tx>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multiLvlStrRef>
              <c:f>'Suggesting_Countries &amp; cities'!$A$100:$A$137</c:f>
              <c:multiLvlStrCache>
                <c:ptCount val="32"/>
                <c:lvl>
                  <c:pt idx="0">
                    <c:v>Armidale</c:v>
                  </c:pt>
                  <c:pt idx="1">
                    <c:v>Balingup</c:v>
                  </c:pt>
                  <c:pt idx="2">
                    <c:v>Beechworth</c:v>
                  </c:pt>
                  <c:pt idx="3">
                    <c:v>Dicky Beach</c:v>
                  </c:pt>
                  <c:pt idx="4">
                    <c:v>East Ballina</c:v>
                  </c:pt>
                  <c:pt idx="5">
                    <c:v>Flaxton</c:v>
                  </c:pt>
                  <c:pt idx="6">
                    <c:v>Forrest</c:v>
                  </c:pt>
                  <c:pt idx="7">
                    <c:v>Hepburn Springs</c:v>
                  </c:pt>
                  <c:pt idx="8">
                    <c:v>Huskisson</c:v>
                  </c:pt>
                  <c:pt idx="9">
                    <c:v>Inverloch</c:v>
                  </c:pt>
                  <c:pt idx="10">
                    <c:v>Lakes Entrance</c:v>
                  </c:pt>
                  <c:pt idx="11">
                    <c:v>Lorn</c:v>
                  </c:pt>
                  <c:pt idx="12">
                    <c:v>Macedon</c:v>
                  </c:pt>
                  <c:pt idx="13">
                    <c:v>Mayfield</c:v>
                  </c:pt>
                  <c:pt idx="14">
                    <c:v>Middleton Beach</c:v>
                  </c:pt>
                  <c:pt idx="15">
                    <c:v>Montville</c:v>
                  </c:pt>
                  <c:pt idx="16">
                    <c:v>Palm Cove</c:v>
                  </c:pt>
                  <c:pt idx="17">
                    <c:v>Paynesville</c:v>
                  </c:pt>
                  <c:pt idx="18">
                    <c:v>Penola</c:v>
                  </c:pt>
                  <c:pt idx="19">
                    <c:v>Phillip Island</c:v>
                  </c:pt>
                  <c:pt idx="20">
                    <c:v>Tanunda</c:v>
                  </c:pt>
                  <c:pt idx="21">
                    <c:v>Trentham East</c:v>
                  </c:pt>
                  <c:pt idx="22">
                    <c:v>Victor Harbor</c:v>
                  </c:pt>
                  <c:pt idx="23">
                    <c:v>Brasí_lia</c:v>
                  </c:pt>
                  <c:pt idx="24">
                    <c:v>Rio de Janeiro</c:v>
                  </c:pt>
                  <c:pt idx="25">
                    <c:v>Sí£o Paulo</c:v>
                  </c:pt>
                  <c:pt idx="26">
                    <c:v>Chatham-Kent</c:v>
                  </c:pt>
                  <c:pt idx="27">
                    <c:v>Consort</c:v>
                  </c:pt>
                  <c:pt idx="28">
                    <c:v>Vineland Station</c:v>
                  </c:pt>
                  <c:pt idx="29">
                    <c:v>Yorkton</c:v>
                  </c:pt>
                  <c:pt idx="30">
                    <c:v>Singapore</c:v>
                  </c:pt>
                  <c:pt idx="31">
                    <c:v>Colombo</c:v>
                  </c:pt>
                </c:lvl>
                <c:lvl>
                  <c:pt idx="0">
                    <c:v>Australia</c:v>
                  </c:pt>
                  <c:pt idx="23">
                    <c:v>Brazil</c:v>
                  </c:pt>
                  <c:pt idx="26">
                    <c:v>Canada</c:v>
                  </c:pt>
                  <c:pt idx="30">
                    <c:v>Singapore</c:v>
                  </c:pt>
                  <c:pt idx="31">
                    <c:v>Sri Lanka</c:v>
                  </c:pt>
                </c:lvl>
              </c:multiLvlStrCache>
            </c:multiLvlStrRef>
          </c:cat>
          <c:val>
            <c:numRef>
              <c:f>'Suggesting_Countries &amp; cities'!$B$100:$B$137</c:f>
              <c:numCache>
                <c:formatCode>General</c:formatCode>
                <c:ptCount val="32"/>
                <c:pt idx="0">
                  <c:v>1</c:v>
                </c:pt>
                <c:pt idx="1">
                  <c:v>1</c:v>
                </c:pt>
                <c:pt idx="2">
                  <c:v>1</c:v>
                </c:pt>
                <c:pt idx="3">
                  <c:v>1</c:v>
                </c:pt>
                <c:pt idx="4">
                  <c:v>1</c:v>
                </c:pt>
                <c:pt idx="5">
                  <c:v>1</c:v>
                </c:pt>
                <c:pt idx="6">
                  <c:v>1</c:v>
                </c:pt>
                <c:pt idx="7">
                  <c:v>2</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20</c:v>
                </c:pt>
                <c:pt idx="24">
                  <c:v>20</c:v>
                </c:pt>
                <c:pt idx="25">
                  <c:v>20</c:v>
                </c:pt>
                <c:pt idx="26">
                  <c:v>1</c:v>
                </c:pt>
                <c:pt idx="27">
                  <c:v>1</c:v>
                </c:pt>
                <c:pt idx="28">
                  <c:v>1</c:v>
                </c:pt>
                <c:pt idx="29">
                  <c:v>1</c:v>
                </c:pt>
                <c:pt idx="30">
                  <c:v>20</c:v>
                </c:pt>
                <c:pt idx="31">
                  <c:v>20</c:v>
                </c:pt>
              </c:numCache>
            </c:numRef>
          </c:val>
          <c:extLst>
            <c:ext xmlns:c16="http://schemas.microsoft.com/office/drawing/2014/chart" uri="{C3380CC4-5D6E-409C-BE32-E72D297353CC}">
              <c16:uniqueId val="{00000000-F6F8-4A97-B1E4-A72BEF151AF3}"/>
            </c:ext>
          </c:extLst>
        </c:ser>
        <c:dLbls>
          <c:dLblPos val="outEnd"/>
          <c:showLegendKey val="0"/>
          <c:showVal val="1"/>
          <c:showCatName val="0"/>
          <c:showSerName val="0"/>
          <c:showPercent val="0"/>
          <c:showBubbleSize val="0"/>
        </c:dLbls>
        <c:gapWidth val="100"/>
        <c:overlap val="-24"/>
        <c:axId val="329168560"/>
        <c:axId val="954571200"/>
      </c:barChart>
      <c:catAx>
        <c:axId val="32916856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54571200"/>
        <c:crosses val="autoZero"/>
        <c:auto val="1"/>
        <c:lblAlgn val="ctr"/>
        <c:lblOffset val="100"/>
        <c:noMultiLvlLbl val="0"/>
      </c:catAx>
      <c:valAx>
        <c:axId val="954571200"/>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3291685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[Zomato_Data_r.xlsx]Analysis_Of_Cuisines!PivotTable1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Analysis of cuisine over rating</a:t>
            </a:r>
          </a:p>
        </c:rich>
      </c:tx>
      <c:layout>
        <c:manualLayout>
          <c:xMode val="edge"/>
          <c:yMode val="edge"/>
          <c:x val="0.39638272502872735"/>
          <c:y val="0.10404337359908808"/>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eparator>, </c:separator>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eparator>, </c:separator>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eparator>, </c:separator>
          <c:extLst>
            <c:ext xmlns:c15="http://schemas.microsoft.com/office/drawing/2012/chart" uri="{CE6537A1-D6FC-4f65-9D91-7224C49458BB}"/>
          </c:extLst>
        </c:dLbl>
      </c:pivotFmt>
    </c:pivotFmts>
    <c:plotArea>
      <c:layout>
        <c:manualLayout>
          <c:layoutTarget val="inner"/>
          <c:xMode val="edge"/>
          <c:yMode val="edge"/>
          <c:x val="1.8092661653192732E-2"/>
          <c:y val="0.12272418895479315"/>
          <c:w val="0.96429506193373182"/>
          <c:h val="0.38994454323068112"/>
        </c:manualLayout>
      </c:layout>
      <c:lineChart>
        <c:grouping val="standard"/>
        <c:varyColors val="0"/>
        <c:ser>
          <c:idx val="0"/>
          <c:order val="0"/>
          <c:tx>
            <c:strRef>
              <c:f>Analysis_Of_Cuisines!$C$4</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multiLvlStrRef>
              <c:f>Analysis_Of_Cuisines!$B$5:$B$35</c:f>
              <c:multiLvlStrCache>
                <c:ptCount val="25"/>
                <c:lvl>
                  <c:pt idx="0">
                    <c:v>Pizza, Bar Food</c:v>
                  </c:pt>
                  <c:pt idx="1">
                    <c:v>Modern Australian, Australian</c:v>
                  </c:pt>
                  <c:pt idx="2">
                    <c:v>Mediterranean, Seafood</c:v>
                  </c:pt>
                  <c:pt idx="3">
                    <c:v>Breakfast, Modern Australian</c:v>
                  </c:pt>
                  <c:pt idx="4">
                    <c:v>Australian</c:v>
                  </c:pt>
                  <c:pt idx="5">
                    <c:v>Juices, Healthy Food</c:v>
                  </c:pt>
                  <c:pt idx="6">
                    <c:v>Desserts, Cafe</c:v>
                  </c:pt>
                  <c:pt idx="7">
                    <c:v>Burger</c:v>
                  </c:pt>
                  <c:pt idx="8">
                    <c:v>Brazilian, Bar Food</c:v>
                  </c:pt>
                  <c:pt idx="9">
                    <c:v>Beverages, International</c:v>
                  </c:pt>
                  <c:pt idx="10">
                    <c:v>Japanese, Sushi</c:v>
                  </c:pt>
                  <c:pt idx="11">
                    <c:v>Italian, Mediterranean, Pizza</c:v>
                  </c:pt>
                  <c:pt idx="12">
                    <c:v>Chinese, Canadian</c:v>
                  </c:pt>
                  <c:pt idx="13">
                    <c:v>Asian</c:v>
                  </c:pt>
                  <c:pt idx="14">
                    <c:v>Italian</c:v>
                  </c:pt>
                  <c:pt idx="15">
                    <c:v>Finger Food</c:v>
                  </c:pt>
                  <c:pt idx="16">
                    <c:v>Chinese, Seafood, Cantonese, Dim Sum</c:v>
                  </c:pt>
                  <c:pt idx="17">
                    <c:v>Bakery</c:v>
                  </c:pt>
                  <c:pt idx="18">
                    <c:v>American, Steak</c:v>
                  </c:pt>
                  <c:pt idx="19">
                    <c:v>Seafood</c:v>
                  </c:pt>
                  <c:pt idx="20">
                    <c:v>Middle Eastern, Arabian</c:v>
                  </c:pt>
                  <c:pt idx="21">
                    <c:v>Juices, Desserts</c:v>
                  </c:pt>
                  <c:pt idx="22">
                    <c:v>Desserts, Bakery</c:v>
                  </c:pt>
                  <c:pt idx="23">
                    <c:v>Continental, American, Seafood</c:v>
                  </c:pt>
                  <c:pt idx="24">
                    <c:v>American, Fast Food, Steak, Beverages</c:v>
                  </c:pt>
                </c:lvl>
                <c:lvl>
                  <c:pt idx="0">
                    <c:v>Australia</c:v>
                  </c:pt>
                  <c:pt idx="5">
                    <c:v>Brazil</c:v>
                  </c:pt>
                  <c:pt idx="10">
                    <c:v>Canada</c:v>
                  </c:pt>
                  <c:pt idx="14">
                    <c:v>Singapore</c:v>
                  </c:pt>
                  <c:pt idx="19">
                    <c:v>Sri Lanka</c:v>
                  </c:pt>
                </c:lvl>
              </c:multiLvlStrCache>
            </c:multiLvlStrRef>
          </c:cat>
          <c:val>
            <c:numRef>
              <c:f>Analysis_Of_Cuisines!$C$5:$C$35</c:f>
              <c:numCache>
                <c:formatCode>General</c:formatCode>
                <c:ptCount val="25"/>
                <c:pt idx="0">
                  <c:v>4.5999999999999996</c:v>
                </c:pt>
                <c:pt idx="1">
                  <c:v>4.4000000000000004</c:v>
                </c:pt>
                <c:pt idx="2">
                  <c:v>4.4000000000000004</c:v>
                </c:pt>
                <c:pt idx="3">
                  <c:v>4.0999999999999996</c:v>
                </c:pt>
                <c:pt idx="4">
                  <c:v>4.0999999999999996</c:v>
                </c:pt>
                <c:pt idx="5">
                  <c:v>4.7</c:v>
                </c:pt>
                <c:pt idx="6">
                  <c:v>4.8</c:v>
                </c:pt>
                <c:pt idx="7">
                  <c:v>4.8</c:v>
                </c:pt>
                <c:pt idx="8">
                  <c:v>4.6749999999999998</c:v>
                </c:pt>
                <c:pt idx="9">
                  <c:v>4.8</c:v>
                </c:pt>
                <c:pt idx="10">
                  <c:v>3.7</c:v>
                </c:pt>
                <c:pt idx="11">
                  <c:v>4.3</c:v>
                </c:pt>
                <c:pt idx="12">
                  <c:v>3</c:v>
                </c:pt>
                <c:pt idx="13">
                  <c:v>3.3</c:v>
                </c:pt>
                <c:pt idx="14">
                  <c:v>4.0999999999999996</c:v>
                </c:pt>
                <c:pt idx="15">
                  <c:v>3.9</c:v>
                </c:pt>
                <c:pt idx="16">
                  <c:v>3.9</c:v>
                </c:pt>
                <c:pt idx="17">
                  <c:v>4.2</c:v>
                </c:pt>
                <c:pt idx="18">
                  <c:v>4</c:v>
                </c:pt>
                <c:pt idx="19">
                  <c:v>4.9000000000000004</c:v>
                </c:pt>
                <c:pt idx="20">
                  <c:v>4.2</c:v>
                </c:pt>
                <c:pt idx="21">
                  <c:v>4.5</c:v>
                </c:pt>
                <c:pt idx="22">
                  <c:v>4.2</c:v>
                </c:pt>
                <c:pt idx="23">
                  <c:v>4.2</c:v>
                </c:pt>
                <c:pt idx="24">
                  <c:v>4.2</c:v>
                </c:pt>
              </c:numCache>
            </c:numRef>
          </c:val>
          <c:smooth val="0"/>
          <c:extLst>
            <c:ext xmlns:c16="http://schemas.microsoft.com/office/drawing/2014/chart" uri="{C3380CC4-5D6E-409C-BE32-E72D297353CC}">
              <c16:uniqueId val="{00000000-279E-4504-B72C-0E79619792D7}"/>
            </c:ext>
          </c:extLst>
        </c:ser>
        <c:dLbls>
          <c:showLegendKey val="0"/>
          <c:showVal val="1"/>
          <c:showCatName val="0"/>
          <c:showSerName val="0"/>
          <c:showPercent val="0"/>
          <c:showBubbleSize val="0"/>
        </c:dLbls>
        <c:marker val="1"/>
        <c:smooth val="0"/>
        <c:axId val="1327802495"/>
        <c:axId val="1327807295"/>
      </c:lineChart>
      <c:catAx>
        <c:axId val="1327802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7807295"/>
        <c:crosses val="autoZero"/>
        <c:auto val="1"/>
        <c:lblAlgn val="ctr"/>
        <c:lblOffset val="100"/>
        <c:noMultiLvlLbl val="0"/>
      </c:catAx>
      <c:valAx>
        <c:axId val="132780729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78024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[Zomato_Data_r.xlsx]Analysis_Of_Cuisines!PivotTable16</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Analysis_Of_Cuisines!$G$30</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Analysis_Of_Cuisines!$F$31:$F$36</c:f>
              <c:strCache>
                <c:ptCount val="5"/>
                <c:pt idx="0">
                  <c:v>Chinese</c:v>
                </c:pt>
                <c:pt idx="1">
                  <c:v>Fast Food</c:v>
                </c:pt>
                <c:pt idx="2">
                  <c:v>North Indian</c:v>
                </c:pt>
                <c:pt idx="3">
                  <c:v>North Indian, Chinese</c:v>
                </c:pt>
                <c:pt idx="4">
                  <c:v>North Indian, Mughlai</c:v>
                </c:pt>
              </c:strCache>
            </c:strRef>
          </c:cat>
          <c:val>
            <c:numRef>
              <c:f>Analysis_Of_Cuisines!$G$31:$G$36</c:f>
              <c:numCache>
                <c:formatCode>General</c:formatCode>
                <c:ptCount val="5"/>
                <c:pt idx="0">
                  <c:v>354</c:v>
                </c:pt>
                <c:pt idx="1">
                  <c:v>354</c:v>
                </c:pt>
                <c:pt idx="2">
                  <c:v>936</c:v>
                </c:pt>
                <c:pt idx="3">
                  <c:v>511</c:v>
                </c:pt>
                <c:pt idx="4">
                  <c:v>334</c:v>
                </c:pt>
              </c:numCache>
            </c:numRef>
          </c:val>
          <c:extLst>
            <c:ext xmlns:c16="http://schemas.microsoft.com/office/drawing/2014/chart" uri="{C3380CC4-5D6E-409C-BE32-E72D297353CC}">
              <c16:uniqueId val="{00000000-C93D-40FE-AFD3-F9575363BEBB}"/>
            </c:ext>
          </c:extLst>
        </c:ser>
        <c:dLbls>
          <c:dLblPos val="outEnd"/>
          <c:showLegendKey val="0"/>
          <c:showVal val="1"/>
          <c:showCatName val="0"/>
          <c:showSerName val="0"/>
          <c:showPercent val="0"/>
          <c:showBubbleSize val="0"/>
        </c:dLbls>
        <c:gapWidth val="219"/>
        <c:overlap val="-27"/>
        <c:axId val="246394543"/>
        <c:axId val="246385423"/>
      </c:barChart>
      <c:catAx>
        <c:axId val="246394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6385423"/>
        <c:crosses val="autoZero"/>
        <c:auto val="1"/>
        <c:lblAlgn val="ctr"/>
        <c:lblOffset val="100"/>
        <c:noMultiLvlLbl val="0"/>
      </c:catAx>
      <c:valAx>
        <c:axId val="24638542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63945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[Zomato_Data_r.xlsx]Quality_Regarding_Rating!PivotTable3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b="1">
                <a:solidFill>
                  <a:sysClr val="windowText" lastClr="000000"/>
                </a:solidFill>
              </a:rPr>
              <a:t>Country vs avg rating vs avg_avg_cost_of_two</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Quality_Regarding_Rating!$C$4</c:f>
              <c:strCache>
                <c:ptCount val="1"/>
                <c:pt idx="0">
                  <c:v>Average of Average_Cost_for_two_INR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Quality_Regarding_Rating!$B$5:$B$20</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Quality_Regarding_Rating!$C$5:$C$20</c:f>
              <c:numCache>
                <c:formatCode>[$₹-4009]\ #,##0</c:formatCode>
                <c:ptCount val="15"/>
                <c:pt idx="0">
                  <c:v>2066.1091666666671</c:v>
                </c:pt>
                <c:pt idx="1">
                  <c:v>2154.6666666666665</c:v>
                </c:pt>
                <c:pt idx="2">
                  <c:v>3109.8874999999998</c:v>
                </c:pt>
                <c:pt idx="3">
                  <c:v>623.37031900138697</c:v>
                </c:pt>
                <c:pt idx="4">
                  <c:v>1479.061904761905</c:v>
                </c:pt>
                <c:pt idx="5">
                  <c:v>3613.05</c:v>
                </c:pt>
                <c:pt idx="6">
                  <c:v>10283.636363636364</c:v>
                </c:pt>
                <c:pt idx="7">
                  <c:v>4922.5</c:v>
                </c:pt>
                <c:pt idx="8">
                  <c:v>13361.792500000005</c:v>
                </c:pt>
                <c:pt idx="9">
                  <c:v>1804.8533333333332</c:v>
                </c:pt>
                <c:pt idx="10">
                  <c:v>593.75</c:v>
                </c:pt>
                <c:pt idx="11">
                  <c:v>185.82794117647055</c:v>
                </c:pt>
                <c:pt idx="12">
                  <c:v>3877.5083333333332</c:v>
                </c:pt>
                <c:pt idx="13">
                  <c:v>5517.5625</c:v>
                </c:pt>
                <c:pt idx="14">
                  <c:v>2243.5864055299571</c:v>
                </c:pt>
              </c:numCache>
            </c:numRef>
          </c:val>
          <c:extLst>
            <c:ext xmlns:c16="http://schemas.microsoft.com/office/drawing/2014/chart" uri="{C3380CC4-5D6E-409C-BE32-E72D297353CC}">
              <c16:uniqueId val="{00000000-D6E2-4566-BBAF-0A0FF507CF9D}"/>
            </c:ext>
          </c:extLst>
        </c:ser>
        <c:dLbls>
          <c:showLegendKey val="0"/>
          <c:showVal val="1"/>
          <c:showCatName val="0"/>
          <c:showSerName val="0"/>
          <c:showPercent val="0"/>
          <c:showBubbleSize val="0"/>
        </c:dLbls>
        <c:gapWidth val="219"/>
        <c:axId val="365680384"/>
        <c:axId val="365688544"/>
      </c:barChart>
      <c:lineChart>
        <c:grouping val="standard"/>
        <c:varyColors val="0"/>
        <c:ser>
          <c:idx val="1"/>
          <c:order val="1"/>
          <c:tx>
            <c:strRef>
              <c:f>Quality_Regarding_Rating!$D$4</c:f>
              <c:strCache>
                <c:ptCount val="1"/>
                <c:pt idx="0">
                  <c:v>Average of Rating</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Quality_Regarding_Rating!$B$5:$B$20</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Quality_Regarding_Rating!$D$5:$D$20</c:f>
              <c:numCache>
                <c:formatCode>[$₹-4009]\ #,##0.0</c:formatCode>
                <c:ptCount val="15"/>
                <c:pt idx="0">
                  <c:v>3.6583333333333337</c:v>
                </c:pt>
                <c:pt idx="1">
                  <c:v>3.8466666666666667</c:v>
                </c:pt>
                <c:pt idx="2">
                  <c:v>3.5750000000000002</c:v>
                </c:pt>
                <c:pt idx="3">
                  <c:v>2.7705501618122987</c:v>
                </c:pt>
                <c:pt idx="4">
                  <c:v>4.295238095238096</c:v>
                </c:pt>
                <c:pt idx="5">
                  <c:v>4.2624999999999993</c:v>
                </c:pt>
                <c:pt idx="6">
                  <c:v>4.4681818181818187</c:v>
                </c:pt>
                <c:pt idx="7">
                  <c:v>4.0599999999999996</c:v>
                </c:pt>
                <c:pt idx="8">
                  <c:v>3.5750000000000002</c:v>
                </c:pt>
                <c:pt idx="9">
                  <c:v>4.2100000000000009</c:v>
                </c:pt>
                <c:pt idx="10">
                  <c:v>3.87</c:v>
                </c:pt>
                <c:pt idx="11">
                  <c:v>4.3</c:v>
                </c:pt>
                <c:pt idx="12">
                  <c:v>4.2333333333333352</c:v>
                </c:pt>
                <c:pt idx="13">
                  <c:v>4.0999999999999996</c:v>
                </c:pt>
                <c:pt idx="14">
                  <c:v>4.011290322580642</c:v>
                </c:pt>
              </c:numCache>
            </c:numRef>
          </c:val>
          <c:smooth val="0"/>
          <c:extLst>
            <c:ext xmlns:c16="http://schemas.microsoft.com/office/drawing/2014/chart" uri="{C3380CC4-5D6E-409C-BE32-E72D297353CC}">
              <c16:uniqueId val="{00000001-D6E2-4566-BBAF-0A0FF507CF9D}"/>
            </c:ext>
          </c:extLst>
        </c:ser>
        <c:dLbls>
          <c:showLegendKey val="0"/>
          <c:showVal val="0"/>
          <c:showCatName val="0"/>
          <c:showSerName val="0"/>
          <c:showPercent val="0"/>
          <c:showBubbleSize val="0"/>
        </c:dLbls>
        <c:marker val="1"/>
        <c:smooth val="0"/>
        <c:axId val="444566464"/>
        <c:axId val="444569824"/>
      </c:lineChart>
      <c:catAx>
        <c:axId val="365680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5688544"/>
        <c:crosses val="autoZero"/>
        <c:auto val="1"/>
        <c:lblAlgn val="ctr"/>
        <c:lblOffset val="100"/>
        <c:noMultiLvlLbl val="0"/>
      </c:catAx>
      <c:valAx>
        <c:axId val="365688544"/>
        <c:scaling>
          <c:orientation val="minMax"/>
        </c:scaling>
        <c:delete val="0"/>
        <c:axPos val="l"/>
        <c:numFmt formatCode="[$₹-4009]\ #,##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5680384"/>
        <c:crosses val="autoZero"/>
        <c:crossBetween val="between"/>
      </c:valAx>
      <c:valAx>
        <c:axId val="444569824"/>
        <c:scaling>
          <c:orientation val="minMax"/>
        </c:scaling>
        <c:delete val="0"/>
        <c:axPos val="r"/>
        <c:numFmt formatCode="[$₹-4009]\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4566464"/>
        <c:crosses val="max"/>
        <c:crossBetween val="between"/>
      </c:valAx>
      <c:catAx>
        <c:axId val="444566464"/>
        <c:scaling>
          <c:orientation val="minMax"/>
        </c:scaling>
        <c:delete val="1"/>
        <c:axPos val="b"/>
        <c:numFmt formatCode="General" sourceLinked="1"/>
        <c:majorTickMark val="out"/>
        <c:minorTickMark val="none"/>
        <c:tickLblPos val="nextTo"/>
        <c:crossAx val="444569824"/>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Has</a:t>
            </a:r>
            <a:r>
              <a:rPr lang="en-US" baseline="0"/>
              <a:t> Online Delivary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2">
                  <a:tint val="77000"/>
                </a:schemeClr>
              </a:solidFill>
              <a:ln w="19050">
                <a:solidFill>
                  <a:schemeClr val="lt1"/>
                </a:solidFill>
              </a:ln>
              <a:effectLst/>
            </c:spPr>
            <c:extLst>
              <c:ext xmlns:c16="http://schemas.microsoft.com/office/drawing/2014/chart" uri="{C3380CC4-5D6E-409C-BE32-E72D297353CC}">
                <c16:uniqueId val="{00000001-64C0-44E2-8867-BA1447EEE7CB}"/>
              </c:ext>
            </c:extLst>
          </c:dPt>
          <c:dPt>
            <c:idx val="1"/>
            <c:bubble3D val="0"/>
            <c:spPr>
              <a:solidFill>
                <a:schemeClr val="accent2">
                  <a:shade val="76000"/>
                </a:schemeClr>
              </a:solidFill>
              <a:ln w="19050">
                <a:solidFill>
                  <a:schemeClr val="lt1"/>
                </a:solidFill>
              </a:ln>
              <a:effectLst/>
            </c:spPr>
            <c:extLst>
              <c:ext xmlns:c16="http://schemas.microsoft.com/office/drawing/2014/chart" uri="{C3380CC4-5D6E-409C-BE32-E72D297353CC}">
                <c16:uniqueId val="{00000003-64C0-44E2-8867-BA1447EEE7CB}"/>
              </c:ext>
            </c:extLst>
          </c:dPt>
          <c:dLbls>
            <c:dLbl>
              <c:idx val="0"/>
              <c:layout>
                <c:manualLayout>
                  <c:x val="9.2879256965944276E-2"/>
                  <c:y val="-6.006006006006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4C0-44E2-8867-BA1447EEE7CB}"/>
                </c:ext>
              </c:extLst>
            </c:dLbl>
            <c:dLbl>
              <c:idx val="1"/>
              <c:layout>
                <c:manualLayout>
                  <c:x val="-0.10835913312693503"/>
                  <c:y val="7.20720720720720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4C0-44E2-8867-BA1447EEE7C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'Online_delivery &amp; Table _bookin'!$F$5:$F$6</c:f>
              <c:strCache>
                <c:ptCount val="2"/>
                <c:pt idx="0">
                  <c:v>Yes</c:v>
                </c:pt>
                <c:pt idx="1">
                  <c:v>No</c:v>
                </c:pt>
              </c:strCache>
            </c:strRef>
          </c:cat>
          <c:val>
            <c:numRef>
              <c:f>'Online_delivery &amp; Table _bookin'!$G$5:$G$6</c:f>
              <c:numCache>
                <c:formatCode>General</c:formatCode>
                <c:ptCount val="2"/>
                <c:pt idx="0">
                  <c:v>2451</c:v>
                </c:pt>
                <c:pt idx="1">
                  <c:v>7100</c:v>
                </c:pt>
              </c:numCache>
            </c:numRef>
          </c:val>
          <c:extLst>
            <c:ext xmlns:c16="http://schemas.microsoft.com/office/drawing/2014/chart" uri="{C3380CC4-5D6E-409C-BE32-E72D297353CC}">
              <c16:uniqueId val="{00000004-64C0-44E2-8867-BA1447EEE7CB}"/>
            </c:ext>
          </c:extLst>
        </c:ser>
        <c:dLbls>
          <c:showLegendKey val="0"/>
          <c:showVal val="1"/>
          <c:showCatName val="0"/>
          <c:showSerName val="0"/>
          <c:showPercent val="0"/>
          <c:showBubbleSize val="0"/>
          <c:showLeaderLines val="1"/>
        </c:dLbls>
        <c:firstSliceAng val="0"/>
        <c:holeSize val="75"/>
      </c:doughnutChart>
      <c:spPr>
        <a:noFill/>
        <a:ln>
          <a:noFill/>
        </a:ln>
        <a:effectLst>
          <a:glow rad="101600">
            <a:srgbClr val="E23744">
              <a:alpha val="40000"/>
            </a:srgbClr>
          </a:glow>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a:glow rad="63500">
        <a:srgbClr val="E23744">
          <a:alpha val="40000"/>
        </a:srgbClr>
      </a:glow>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Has</a:t>
            </a:r>
            <a:r>
              <a:rPr lang="en-US" baseline="0"/>
              <a:t> Table Booking</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2">
                  <a:tint val="77000"/>
                </a:schemeClr>
              </a:solidFill>
              <a:ln w="19050">
                <a:solidFill>
                  <a:schemeClr val="lt1"/>
                </a:solidFill>
              </a:ln>
              <a:effectLst/>
            </c:spPr>
            <c:extLst>
              <c:ext xmlns:c16="http://schemas.microsoft.com/office/drawing/2014/chart" uri="{C3380CC4-5D6E-409C-BE32-E72D297353CC}">
                <c16:uniqueId val="{00000001-91FE-4178-A53D-2DEE2EEE7BEB}"/>
              </c:ext>
            </c:extLst>
          </c:dPt>
          <c:dPt>
            <c:idx val="1"/>
            <c:bubble3D val="0"/>
            <c:spPr>
              <a:solidFill>
                <a:schemeClr val="accent2">
                  <a:shade val="76000"/>
                </a:schemeClr>
              </a:solidFill>
              <a:ln w="19050">
                <a:solidFill>
                  <a:schemeClr val="lt1"/>
                </a:solidFill>
              </a:ln>
              <a:effectLst/>
            </c:spPr>
            <c:extLst>
              <c:ext xmlns:c16="http://schemas.microsoft.com/office/drawing/2014/chart" uri="{C3380CC4-5D6E-409C-BE32-E72D297353CC}">
                <c16:uniqueId val="{00000003-91FE-4178-A53D-2DEE2EEE7BEB}"/>
              </c:ext>
            </c:extLst>
          </c:dPt>
          <c:dLbls>
            <c:dLbl>
              <c:idx val="0"/>
              <c:layout>
                <c:manualLayout>
                  <c:x val="9.1103965702036341E-2"/>
                  <c:y val="-4.80480480480480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FE-4178-A53D-2DEE2EEE7BEB}"/>
                </c:ext>
              </c:extLst>
            </c:dLbl>
            <c:dLbl>
              <c:idx val="1"/>
              <c:layout>
                <c:manualLayout>
                  <c:x val="-0.11789924973204721"/>
                  <c:y val="4.20420420420420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FE-4178-A53D-2DEE2EEE7BE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'Online_delivery &amp; Table _bookin'!$F$5:$F$6</c:f>
              <c:strCache>
                <c:ptCount val="2"/>
                <c:pt idx="0">
                  <c:v>Yes</c:v>
                </c:pt>
                <c:pt idx="1">
                  <c:v>No</c:v>
                </c:pt>
              </c:strCache>
            </c:strRef>
          </c:cat>
          <c:val>
            <c:numRef>
              <c:f>'Online_delivery &amp; Table _bookin'!$H$5:$H$6</c:f>
              <c:numCache>
                <c:formatCode>General</c:formatCode>
                <c:ptCount val="2"/>
                <c:pt idx="0">
                  <c:v>1158</c:v>
                </c:pt>
                <c:pt idx="1">
                  <c:v>8393</c:v>
                </c:pt>
              </c:numCache>
            </c:numRef>
          </c:val>
          <c:extLst>
            <c:ext xmlns:c16="http://schemas.microsoft.com/office/drawing/2014/chart" uri="{C3380CC4-5D6E-409C-BE32-E72D297353CC}">
              <c16:uniqueId val="{00000004-91FE-4178-A53D-2DEE2EEE7BEB}"/>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a:glow rad="63500">
        <a:srgbClr val="E23744">
          <a:alpha val="40000"/>
        </a:srgbClr>
      </a:glow>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3CE7-4298-A795-A9937DD19593}"/>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3CE7-4298-A795-A9937DD19593}"/>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3CE7-4298-A795-A9937DD19593}"/>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3CE7-4298-A795-A9937DD19593}"/>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3CE7-4298-A795-A9937DD19593}"/>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1-3CE7-4298-A795-A9937DD19593}"/>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3-3CE7-4298-A795-A9937DD19593}"/>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5-3CE7-4298-A795-A9937DD19593}"/>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7-3CE7-4298-A795-A9937DD19593}"/>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9-3CE7-4298-A795-A9937DD19593}"/>
                </c:ext>
              </c:extLst>
            </c:dLbl>
            <c:spPr>
              <a:noFill/>
              <a:ln>
                <a:noFill/>
              </a:ln>
              <a:effectLst/>
            </c:sp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Food_Expenditure!$L$3:$L$7</c:f>
              <c:strCache>
                <c:ptCount val="5"/>
                <c:pt idx="0">
                  <c:v>Singapore</c:v>
                </c:pt>
                <c:pt idx="1">
                  <c:v>Canada</c:v>
                </c:pt>
                <c:pt idx="2">
                  <c:v>Australia</c:v>
                </c:pt>
                <c:pt idx="3">
                  <c:v>Sri Lanka</c:v>
                </c:pt>
                <c:pt idx="4">
                  <c:v>Brazil</c:v>
                </c:pt>
              </c:strCache>
            </c:strRef>
          </c:cat>
          <c:val>
            <c:numRef>
              <c:f>Food_Expenditure!$M$3:$M$7</c:f>
              <c:numCache>
                <c:formatCode>General</c:formatCode>
                <c:ptCount val="5"/>
                <c:pt idx="0">
                  <c:v>267235.85000000009</c:v>
                </c:pt>
                <c:pt idx="1">
                  <c:v>12439.55</c:v>
                </c:pt>
                <c:pt idx="2">
                  <c:v>49586.62000000001</c:v>
                </c:pt>
                <c:pt idx="3">
                  <c:v>11875</c:v>
                </c:pt>
                <c:pt idx="4">
                  <c:v>11875</c:v>
                </c:pt>
              </c:numCache>
            </c:numRef>
          </c:val>
          <c:extLst>
            <c:ext xmlns:c16="http://schemas.microsoft.com/office/drawing/2014/chart" uri="{C3380CC4-5D6E-409C-BE32-E72D297353CC}">
              <c16:uniqueId val="{0000000A-3CE7-4298-A795-A9937DD19593}"/>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[Zomato_Data_r.xlsx]Price_Range &amp; KPI!PivotTable1</c:name>
    <c:fmtId val="92"/>
  </c:pivotSource>
  <c:chart>
    <c:title>
      <c:tx>
        <c:rich>
          <a:bodyPr rot="0" spcFirstLastPara="1" vertOverflow="ellipsis" vert="horz" wrap="square" anchor="ctr" anchorCtr="1"/>
          <a:lstStyle/>
          <a:p>
            <a:pPr>
              <a:defRPr sz="1400" b="0" i="0" u="none" strike="noStrike" kern="1200" spc="0" baseline="0">
                <a:solidFill>
                  <a:sysClr val="windowText" lastClr="000000"/>
                </a:solidFill>
                <a:latin typeface="Bahnschrift SemiLight Condensed" panose="020B0502040204020203" pitchFamily="34" charset="0"/>
                <a:ea typeface="+mn-ea"/>
                <a:cs typeface="+mn-cs"/>
              </a:defRPr>
            </a:pPr>
            <a:r>
              <a:rPr lang="en-US" sz="1400" b="0" i="0" u="none" strike="noStrike" baseline="0">
                <a:solidFill>
                  <a:sysClr val="windowText" lastClr="000000"/>
                </a:solidFill>
                <a:latin typeface="Bahnschrift SemiLight Condensed" panose="020B0502040204020203" pitchFamily="34" charset="0"/>
              </a:rPr>
              <a:t>Restaurant Price Range Distribution by Country</a:t>
            </a:r>
            <a:r>
              <a:rPr lang="en-US" b="0">
                <a:solidFill>
                  <a:sysClr val="windowText" lastClr="000000"/>
                </a:solidFill>
                <a:latin typeface="Bahnschrift SemiLight Condensed" panose="020B0502040204020203" pitchFamily="34" charset="0"/>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Bahnschrift SemiLight Condensed" panose="020B0502040204020203" pitchFamily="34" charset="0"/>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8251486680107016E-2"/>
          <c:y val="0.19523657528826338"/>
          <c:w val="0.88339660440995604"/>
          <c:h val="0.43407413726912086"/>
        </c:manualLayout>
      </c:layout>
      <c:bar3DChart>
        <c:barDir val="col"/>
        <c:grouping val="percentStacked"/>
        <c:varyColors val="0"/>
        <c:ser>
          <c:idx val="0"/>
          <c:order val="0"/>
          <c:tx>
            <c:strRef>
              <c:f>'Price_Range &amp; KPI'!$B$4:$B$5</c:f>
              <c:strCache>
                <c:ptCount val="1"/>
                <c:pt idx="0">
                  <c:v>4</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KPI'!$A$6:$A$21</c:f>
              <c:strCache>
                <c:ptCount val="15"/>
                <c:pt idx="0">
                  <c:v>India</c:v>
                </c:pt>
                <c:pt idx="1">
                  <c:v>South Africa</c:v>
                </c:pt>
                <c:pt idx="2">
                  <c:v>Brazil</c:v>
                </c:pt>
                <c:pt idx="3">
                  <c:v>United States of America</c:v>
                </c:pt>
                <c:pt idx="4">
                  <c:v>United Arab Emirates</c:v>
                </c:pt>
                <c:pt idx="5">
                  <c:v>New Zealand</c:v>
                </c:pt>
                <c:pt idx="6">
                  <c:v>United Kingdom</c:v>
                </c:pt>
                <c:pt idx="7">
                  <c:v>Singapore</c:v>
                </c:pt>
                <c:pt idx="8">
                  <c:v>Qatar</c:v>
                </c:pt>
                <c:pt idx="9">
                  <c:v>Philippines</c:v>
                </c:pt>
                <c:pt idx="10">
                  <c:v>Turkey</c:v>
                </c:pt>
                <c:pt idx="11">
                  <c:v>Sri Lanka</c:v>
                </c:pt>
                <c:pt idx="12">
                  <c:v>Australia</c:v>
                </c:pt>
                <c:pt idx="13">
                  <c:v>Canada</c:v>
                </c:pt>
                <c:pt idx="14">
                  <c:v>Indonesia</c:v>
                </c:pt>
              </c:strCache>
            </c:strRef>
          </c:cat>
          <c:val>
            <c:numRef>
              <c:f>'Price_Range &amp; KPI'!$B$6:$B$21</c:f>
              <c:numCache>
                <c:formatCode>General</c:formatCode>
                <c:ptCount val="15"/>
                <c:pt idx="0">
                  <c:v>388</c:v>
                </c:pt>
                <c:pt idx="1">
                  <c:v>39</c:v>
                </c:pt>
                <c:pt idx="2">
                  <c:v>35</c:v>
                </c:pt>
                <c:pt idx="3">
                  <c:v>23</c:v>
                </c:pt>
                <c:pt idx="4">
                  <c:v>22</c:v>
                </c:pt>
                <c:pt idx="5">
                  <c:v>16</c:v>
                </c:pt>
                <c:pt idx="6">
                  <c:v>16</c:v>
                </c:pt>
                <c:pt idx="7">
                  <c:v>14</c:v>
                </c:pt>
                <c:pt idx="8">
                  <c:v>14</c:v>
                </c:pt>
                <c:pt idx="9">
                  <c:v>9</c:v>
                </c:pt>
                <c:pt idx="10">
                  <c:v>5</c:v>
                </c:pt>
                <c:pt idx="11">
                  <c:v>3</c:v>
                </c:pt>
                <c:pt idx="12">
                  <c:v>1</c:v>
                </c:pt>
                <c:pt idx="13">
                  <c:v>1</c:v>
                </c:pt>
              </c:numCache>
            </c:numRef>
          </c:val>
          <c:extLst>
            <c:ext xmlns:c16="http://schemas.microsoft.com/office/drawing/2014/chart" uri="{C3380CC4-5D6E-409C-BE32-E72D297353CC}">
              <c16:uniqueId val="{00000000-4C47-4574-B1C1-A4929B2462A6}"/>
            </c:ext>
          </c:extLst>
        </c:ser>
        <c:ser>
          <c:idx val="1"/>
          <c:order val="1"/>
          <c:tx>
            <c:strRef>
              <c:f>'Price_Range &amp; KPI'!$C$4:$C$5</c:f>
              <c:strCache>
                <c:ptCount val="1"/>
                <c:pt idx="0">
                  <c:v>3</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KPI'!$A$6:$A$21</c:f>
              <c:strCache>
                <c:ptCount val="15"/>
                <c:pt idx="0">
                  <c:v>India</c:v>
                </c:pt>
                <c:pt idx="1">
                  <c:v>South Africa</c:v>
                </c:pt>
                <c:pt idx="2">
                  <c:v>Brazil</c:v>
                </c:pt>
                <c:pt idx="3">
                  <c:v>United States of America</c:v>
                </c:pt>
                <c:pt idx="4">
                  <c:v>United Arab Emirates</c:v>
                </c:pt>
                <c:pt idx="5">
                  <c:v>New Zealand</c:v>
                </c:pt>
                <c:pt idx="6">
                  <c:v>United Kingdom</c:v>
                </c:pt>
                <c:pt idx="7">
                  <c:v>Singapore</c:v>
                </c:pt>
                <c:pt idx="8">
                  <c:v>Qatar</c:v>
                </c:pt>
                <c:pt idx="9">
                  <c:v>Philippines</c:v>
                </c:pt>
                <c:pt idx="10">
                  <c:v>Turkey</c:v>
                </c:pt>
                <c:pt idx="11">
                  <c:v>Sri Lanka</c:v>
                </c:pt>
                <c:pt idx="12">
                  <c:v>Australia</c:v>
                </c:pt>
                <c:pt idx="13">
                  <c:v>Canada</c:v>
                </c:pt>
                <c:pt idx="14">
                  <c:v>Indonesia</c:v>
                </c:pt>
              </c:strCache>
            </c:strRef>
          </c:cat>
          <c:val>
            <c:numRef>
              <c:f>'Price_Range &amp; KPI'!$C$6:$C$21</c:f>
              <c:numCache>
                <c:formatCode>General</c:formatCode>
                <c:ptCount val="15"/>
                <c:pt idx="0">
                  <c:v>1111</c:v>
                </c:pt>
                <c:pt idx="1">
                  <c:v>17</c:v>
                </c:pt>
                <c:pt idx="2">
                  <c:v>16</c:v>
                </c:pt>
                <c:pt idx="3">
                  <c:v>110</c:v>
                </c:pt>
                <c:pt idx="4">
                  <c:v>29</c:v>
                </c:pt>
                <c:pt idx="5">
                  <c:v>17</c:v>
                </c:pt>
                <c:pt idx="6">
                  <c:v>32</c:v>
                </c:pt>
                <c:pt idx="7">
                  <c:v>5</c:v>
                </c:pt>
                <c:pt idx="8">
                  <c:v>5</c:v>
                </c:pt>
                <c:pt idx="9">
                  <c:v>12</c:v>
                </c:pt>
                <c:pt idx="10">
                  <c:v>18</c:v>
                </c:pt>
                <c:pt idx="11">
                  <c:v>11</c:v>
                </c:pt>
                <c:pt idx="12">
                  <c:v>5</c:v>
                </c:pt>
                <c:pt idx="14">
                  <c:v>20</c:v>
                </c:pt>
              </c:numCache>
            </c:numRef>
          </c:val>
          <c:extLst>
            <c:ext xmlns:c16="http://schemas.microsoft.com/office/drawing/2014/chart" uri="{C3380CC4-5D6E-409C-BE32-E72D297353CC}">
              <c16:uniqueId val="{00000001-4C47-4574-B1C1-A4929B2462A6}"/>
            </c:ext>
          </c:extLst>
        </c:ser>
        <c:ser>
          <c:idx val="2"/>
          <c:order val="2"/>
          <c:tx>
            <c:strRef>
              <c:f>'Price_Range &amp; KPI'!$D$4:$D$5</c:f>
              <c:strCache>
                <c:ptCount val="1"/>
                <c:pt idx="0">
                  <c:v>2</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KPI'!$A$6:$A$21</c:f>
              <c:strCache>
                <c:ptCount val="15"/>
                <c:pt idx="0">
                  <c:v>India</c:v>
                </c:pt>
                <c:pt idx="1">
                  <c:v>South Africa</c:v>
                </c:pt>
                <c:pt idx="2">
                  <c:v>Brazil</c:v>
                </c:pt>
                <c:pt idx="3">
                  <c:v>United States of America</c:v>
                </c:pt>
                <c:pt idx="4">
                  <c:v>United Arab Emirates</c:v>
                </c:pt>
                <c:pt idx="5">
                  <c:v>New Zealand</c:v>
                </c:pt>
                <c:pt idx="6">
                  <c:v>United Kingdom</c:v>
                </c:pt>
                <c:pt idx="7">
                  <c:v>Singapore</c:v>
                </c:pt>
                <c:pt idx="8">
                  <c:v>Qatar</c:v>
                </c:pt>
                <c:pt idx="9">
                  <c:v>Philippines</c:v>
                </c:pt>
                <c:pt idx="10">
                  <c:v>Turkey</c:v>
                </c:pt>
                <c:pt idx="11">
                  <c:v>Sri Lanka</c:v>
                </c:pt>
                <c:pt idx="12">
                  <c:v>Australia</c:v>
                </c:pt>
                <c:pt idx="13">
                  <c:v>Canada</c:v>
                </c:pt>
                <c:pt idx="14">
                  <c:v>Indonesia</c:v>
                </c:pt>
              </c:strCache>
            </c:strRef>
          </c:cat>
          <c:val>
            <c:numRef>
              <c:f>'Price_Range &amp; KPI'!$D$6:$D$21</c:f>
              <c:numCache>
                <c:formatCode>General</c:formatCode>
                <c:ptCount val="15"/>
                <c:pt idx="0">
                  <c:v>2858</c:v>
                </c:pt>
                <c:pt idx="1">
                  <c:v>4</c:v>
                </c:pt>
                <c:pt idx="2">
                  <c:v>7</c:v>
                </c:pt>
                <c:pt idx="3">
                  <c:v>165</c:v>
                </c:pt>
                <c:pt idx="4">
                  <c:v>9</c:v>
                </c:pt>
                <c:pt idx="5">
                  <c:v>4</c:v>
                </c:pt>
                <c:pt idx="6">
                  <c:v>28</c:v>
                </c:pt>
                <c:pt idx="7">
                  <c:v>1</c:v>
                </c:pt>
                <c:pt idx="8">
                  <c:v>1</c:v>
                </c:pt>
                <c:pt idx="9">
                  <c:v>1</c:v>
                </c:pt>
                <c:pt idx="10">
                  <c:v>11</c:v>
                </c:pt>
                <c:pt idx="11">
                  <c:v>6</c:v>
                </c:pt>
                <c:pt idx="12">
                  <c:v>14</c:v>
                </c:pt>
                <c:pt idx="13">
                  <c:v>3</c:v>
                </c:pt>
                <c:pt idx="14">
                  <c:v>1</c:v>
                </c:pt>
              </c:numCache>
            </c:numRef>
          </c:val>
          <c:extLst>
            <c:ext xmlns:c16="http://schemas.microsoft.com/office/drawing/2014/chart" uri="{C3380CC4-5D6E-409C-BE32-E72D297353CC}">
              <c16:uniqueId val="{00000002-4C47-4574-B1C1-A4929B2462A6}"/>
            </c:ext>
          </c:extLst>
        </c:ser>
        <c:ser>
          <c:idx val="3"/>
          <c:order val="3"/>
          <c:tx>
            <c:strRef>
              <c:f>'Price_Range &amp; KPI'!$E$4:$E$5</c:f>
              <c:strCache>
                <c:ptCount val="1"/>
                <c:pt idx="0">
                  <c:v>1</c:v>
                </c:pt>
              </c:strCache>
            </c:strRef>
          </c:tx>
          <c:spPr>
            <a:solidFill>
              <a:schemeClr val="accent4"/>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KPI'!$A$6:$A$21</c:f>
              <c:strCache>
                <c:ptCount val="15"/>
                <c:pt idx="0">
                  <c:v>India</c:v>
                </c:pt>
                <c:pt idx="1">
                  <c:v>South Africa</c:v>
                </c:pt>
                <c:pt idx="2">
                  <c:v>Brazil</c:v>
                </c:pt>
                <c:pt idx="3">
                  <c:v>United States of America</c:v>
                </c:pt>
                <c:pt idx="4">
                  <c:v>United Arab Emirates</c:v>
                </c:pt>
                <c:pt idx="5">
                  <c:v>New Zealand</c:v>
                </c:pt>
                <c:pt idx="6">
                  <c:v>United Kingdom</c:v>
                </c:pt>
                <c:pt idx="7">
                  <c:v>Singapore</c:v>
                </c:pt>
                <c:pt idx="8">
                  <c:v>Qatar</c:v>
                </c:pt>
                <c:pt idx="9">
                  <c:v>Philippines</c:v>
                </c:pt>
                <c:pt idx="10">
                  <c:v>Turkey</c:v>
                </c:pt>
                <c:pt idx="11">
                  <c:v>Sri Lanka</c:v>
                </c:pt>
                <c:pt idx="12">
                  <c:v>Australia</c:v>
                </c:pt>
                <c:pt idx="13">
                  <c:v>Canada</c:v>
                </c:pt>
                <c:pt idx="14">
                  <c:v>Indonesia</c:v>
                </c:pt>
              </c:strCache>
            </c:strRef>
          </c:cat>
          <c:val>
            <c:numRef>
              <c:f>'Price_Range &amp; KPI'!$E$6:$E$21</c:f>
              <c:numCache>
                <c:formatCode>General</c:formatCode>
                <c:ptCount val="15"/>
                <c:pt idx="0">
                  <c:v>4295</c:v>
                </c:pt>
                <c:pt idx="2">
                  <c:v>2</c:v>
                </c:pt>
                <c:pt idx="3">
                  <c:v>136</c:v>
                </c:pt>
                <c:pt idx="5">
                  <c:v>3</c:v>
                </c:pt>
                <c:pt idx="6">
                  <c:v>4</c:v>
                </c:pt>
                <c:pt idx="12">
                  <c:v>4</c:v>
                </c:pt>
              </c:numCache>
            </c:numRef>
          </c:val>
          <c:extLst>
            <c:ext xmlns:c16="http://schemas.microsoft.com/office/drawing/2014/chart" uri="{C3380CC4-5D6E-409C-BE32-E72D297353CC}">
              <c16:uniqueId val="{00000003-4C47-4574-B1C1-A4929B2462A6}"/>
            </c:ext>
          </c:extLst>
        </c:ser>
        <c:dLbls>
          <c:showLegendKey val="0"/>
          <c:showVal val="1"/>
          <c:showCatName val="0"/>
          <c:showSerName val="0"/>
          <c:showPercent val="0"/>
          <c:showBubbleSize val="0"/>
        </c:dLbls>
        <c:gapWidth val="150"/>
        <c:shape val="box"/>
        <c:axId val="790697999"/>
        <c:axId val="790697519"/>
        <c:axId val="0"/>
      </c:bar3DChart>
      <c:catAx>
        <c:axId val="79069799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0697519"/>
        <c:crosses val="autoZero"/>
        <c:auto val="1"/>
        <c:lblAlgn val="ctr"/>
        <c:lblOffset val="100"/>
        <c:noMultiLvlLbl val="0"/>
      </c:catAx>
      <c:valAx>
        <c:axId val="79069751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069799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[Zomato_Data_r.xlsx]Price_Range &amp; KPI!PivotTable15</c:name>
    <c:fmtId val="8"/>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'Price_Range &amp; KPI'!$R$6</c:f>
              <c:strCache>
                <c:ptCount val="1"/>
                <c:pt idx="0">
                  <c:v>Count of RestaurantID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KPI'!$Q$7:$Q$11</c:f>
              <c:strCache>
                <c:ptCount val="4"/>
                <c:pt idx="0">
                  <c:v>1</c:v>
                </c:pt>
                <c:pt idx="1">
                  <c:v>2</c:v>
                </c:pt>
                <c:pt idx="2">
                  <c:v>3</c:v>
                </c:pt>
                <c:pt idx="3">
                  <c:v>4</c:v>
                </c:pt>
              </c:strCache>
            </c:strRef>
          </c:cat>
          <c:val>
            <c:numRef>
              <c:f>'Price_Range &amp; KPI'!$R$7:$R$11</c:f>
              <c:numCache>
                <c:formatCode>General</c:formatCode>
                <c:ptCount val="4"/>
                <c:pt idx="0">
                  <c:v>4444</c:v>
                </c:pt>
                <c:pt idx="1">
                  <c:v>3113</c:v>
                </c:pt>
                <c:pt idx="2">
                  <c:v>1408</c:v>
                </c:pt>
                <c:pt idx="3">
                  <c:v>586</c:v>
                </c:pt>
              </c:numCache>
            </c:numRef>
          </c:val>
          <c:extLst>
            <c:ext xmlns:c16="http://schemas.microsoft.com/office/drawing/2014/chart" uri="{C3380CC4-5D6E-409C-BE32-E72D297353CC}">
              <c16:uniqueId val="{00000000-F543-420A-BCC0-DB71018B9877}"/>
            </c:ext>
          </c:extLst>
        </c:ser>
        <c:dLbls>
          <c:showLegendKey val="0"/>
          <c:showVal val="1"/>
          <c:showCatName val="0"/>
          <c:showSerName val="0"/>
          <c:showPercent val="0"/>
          <c:showBubbleSize val="0"/>
        </c:dLbls>
        <c:gapWidth val="219"/>
        <c:overlap val="-27"/>
        <c:axId val="721463375"/>
        <c:axId val="721470575"/>
      </c:barChart>
      <c:lineChart>
        <c:grouping val="standard"/>
        <c:varyColors val="0"/>
        <c:ser>
          <c:idx val="1"/>
          <c:order val="1"/>
          <c:tx>
            <c:strRef>
              <c:f>'Price_Range &amp; KPI'!$S$6</c:f>
              <c:strCache>
                <c:ptCount val="1"/>
                <c:pt idx="0">
                  <c:v>Average of Rating</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'Price_Range &amp; KPI'!$Q$7:$Q$11</c:f>
              <c:strCache>
                <c:ptCount val="4"/>
                <c:pt idx="0">
                  <c:v>1</c:v>
                </c:pt>
                <c:pt idx="1">
                  <c:v>2</c:v>
                </c:pt>
                <c:pt idx="2">
                  <c:v>3</c:v>
                </c:pt>
                <c:pt idx="3">
                  <c:v>4</c:v>
                </c:pt>
              </c:strCache>
            </c:strRef>
          </c:cat>
          <c:val>
            <c:numRef>
              <c:f>'Price_Range &amp; KPI'!$S$7:$S$11</c:f>
              <c:numCache>
                <c:formatCode>0.00</c:formatCode>
                <c:ptCount val="4"/>
                <c:pt idx="0">
                  <c:v>2.3824257425742563</c:v>
                </c:pt>
                <c:pt idx="1">
                  <c:v>3.0701895277867068</c:v>
                </c:pt>
                <c:pt idx="2">
                  <c:v>3.7082386363636335</c:v>
                </c:pt>
                <c:pt idx="3">
                  <c:v>3.8366894197952193</c:v>
                </c:pt>
              </c:numCache>
            </c:numRef>
          </c:val>
          <c:smooth val="0"/>
          <c:extLst>
            <c:ext xmlns:c16="http://schemas.microsoft.com/office/drawing/2014/chart" uri="{C3380CC4-5D6E-409C-BE32-E72D297353CC}">
              <c16:uniqueId val="{00000001-F543-420A-BCC0-DB71018B9877}"/>
            </c:ext>
          </c:extLst>
        </c:ser>
        <c:dLbls>
          <c:showLegendKey val="0"/>
          <c:showVal val="1"/>
          <c:showCatName val="0"/>
          <c:showSerName val="0"/>
          <c:showPercent val="0"/>
          <c:showBubbleSize val="0"/>
        </c:dLbls>
        <c:marker val="1"/>
        <c:smooth val="0"/>
        <c:axId val="721468175"/>
        <c:axId val="721467695"/>
      </c:lineChart>
      <c:catAx>
        <c:axId val="72146337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price range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470575"/>
        <c:crosses val="autoZero"/>
        <c:auto val="1"/>
        <c:lblAlgn val="ctr"/>
        <c:lblOffset val="100"/>
        <c:noMultiLvlLbl val="0"/>
      </c:catAx>
      <c:valAx>
        <c:axId val="721470575"/>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no of resturent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463375"/>
        <c:crosses val="autoZero"/>
        <c:crossBetween val="between"/>
      </c:valAx>
      <c:valAx>
        <c:axId val="721467695"/>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468175"/>
        <c:crosses val="max"/>
        <c:crossBetween val="between"/>
      </c:valAx>
      <c:catAx>
        <c:axId val="721468175"/>
        <c:scaling>
          <c:orientation val="minMax"/>
        </c:scaling>
        <c:delete val="1"/>
        <c:axPos val="b"/>
        <c:numFmt formatCode="General" sourceLinked="1"/>
        <c:majorTickMark val="out"/>
        <c:minorTickMark val="none"/>
        <c:tickLblPos val="nextTo"/>
        <c:crossAx val="721467695"/>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Reversed" id="22">
  <a:schemeClr val="accent2"/>
</cs:colorStyle>
</file>

<file path=ppt/charts/colors10.xml><?xml version="1.0" encoding="utf-8"?>
<cs:colorStyle xmlns:cs="http://schemas.microsoft.com/office/drawing/2012/chartStyle" xmlns:a="http://schemas.openxmlformats.org/drawingml/2006/main" meth="withinLinearReversed" id="22">
  <a:schemeClr val="accent2"/>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497F8-7373-470A-ADB6-B479082D2000}"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77F64-D3D1-4AC9-90CB-9B3CCDFE85E3}" type="slidenum">
              <a:rPr lang="en-US" smtClean="0"/>
              <a:t>‹#›</a:t>
            </a:fld>
            <a:endParaRPr lang="en-US"/>
          </a:p>
        </p:txBody>
      </p:sp>
    </p:spTree>
    <p:extLst>
      <p:ext uri="{BB962C8B-B14F-4D97-AF65-F5344CB8AC3E}">
        <p14:creationId xmlns:p14="http://schemas.microsoft.com/office/powerpoint/2010/main" val="145535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877F64-D3D1-4AC9-90CB-9B3CCDFE85E3}" type="slidenum">
              <a:rPr lang="en-US" smtClean="0"/>
              <a:t>1</a:t>
            </a:fld>
            <a:endParaRPr lang="en-US"/>
          </a:p>
        </p:txBody>
      </p:sp>
    </p:spTree>
    <p:extLst>
      <p:ext uri="{BB962C8B-B14F-4D97-AF65-F5344CB8AC3E}">
        <p14:creationId xmlns:p14="http://schemas.microsoft.com/office/powerpoint/2010/main" val="1462833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877F64-D3D1-4AC9-90CB-9B3CCDFE85E3}" type="slidenum">
              <a:rPr lang="en-US" smtClean="0"/>
              <a:t>21</a:t>
            </a:fld>
            <a:endParaRPr lang="en-US"/>
          </a:p>
        </p:txBody>
      </p:sp>
    </p:spTree>
    <p:extLst>
      <p:ext uri="{BB962C8B-B14F-4D97-AF65-F5344CB8AC3E}">
        <p14:creationId xmlns:p14="http://schemas.microsoft.com/office/powerpoint/2010/main" val="355374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3D75EB-6630-4B48-B9A8-6FD80143F85B}"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8D60F-E6BE-41E1-9FF5-BB3D7135F7C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045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3D75EB-6630-4B48-B9A8-6FD80143F85B}"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161804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3D75EB-6630-4B48-B9A8-6FD80143F85B}"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8D60F-E6BE-41E1-9FF5-BB3D7135F7C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487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3D75EB-6630-4B48-B9A8-6FD80143F85B}"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3220791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3D75EB-6630-4B48-B9A8-6FD80143F85B}"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8547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3D75EB-6630-4B48-B9A8-6FD80143F85B}"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926963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293D75EB-6630-4B48-B9A8-6FD80143F85B}" type="datetimeFigureOut">
              <a:rPr lang="en-US" smtClean="0"/>
              <a:t>11/1/2025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383578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3D75EB-6630-4B48-B9A8-6FD80143F85B}" type="datetimeFigureOut">
              <a:rPr lang="en-US" smtClean="0"/>
              <a:t>11/1/2025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EF8D60F-E6BE-41E1-9FF5-BB3D7135F7C6}" type="slidenum">
              <a:rPr lang="en-US" smtClean="0"/>
              <a:t>‹#›</a:t>
            </a:fld>
            <a:endParaRPr lang="en-US"/>
          </a:p>
        </p:txBody>
      </p:sp>
    </p:spTree>
    <p:extLst>
      <p:ext uri="{BB962C8B-B14F-4D97-AF65-F5344CB8AC3E}">
        <p14:creationId xmlns:p14="http://schemas.microsoft.com/office/powerpoint/2010/main" val="1953746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3D75EB-6630-4B48-B9A8-6FD80143F85B}"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552460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3D75EB-6630-4B48-B9A8-6FD80143F85B}"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1155551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3D75EB-6630-4B48-B9A8-6FD80143F85B}"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8D60F-E6BE-41E1-9FF5-BB3D7135F7C6}" type="slidenum">
              <a:rPr lang="en-US" smtClean="0"/>
              <a:t>‹#›</a:t>
            </a:fld>
            <a:endParaRPr lang="en-US"/>
          </a:p>
        </p:txBody>
      </p:sp>
    </p:spTree>
    <p:extLst>
      <p:ext uri="{BB962C8B-B14F-4D97-AF65-F5344CB8AC3E}">
        <p14:creationId xmlns:p14="http://schemas.microsoft.com/office/powerpoint/2010/main" val="2700722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3D75EB-6630-4B48-B9A8-6FD80143F85B}" type="datetimeFigureOut">
              <a:rPr lang="en-US" smtClean="0"/>
              <a:t>11/1/2025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EF8D60F-E6BE-41E1-9FF5-BB3D7135F7C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4623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9D957D-9706-5943-5848-B41FD73374EF}"/>
              </a:ext>
            </a:extLst>
          </p:cNvPr>
          <p:cNvSpPr txBox="1"/>
          <p:nvPr/>
        </p:nvSpPr>
        <p:spPr>
          <a:xfrm>
            <a:off x="667322" y="1370166"/>
            <a:ext cx="4639969" cy="3970318"/>
          </a:xfrm>
          <a:prstGeom prst="rect">
            <a:avLst/>
          </a:prstGeom>
          <a:noFill/>
        </p:spPr>
        <p:txBody>
          <a:bodyPr wrap="square" rtlCol="0">
            <a:spAutoFit/>
          </a:bodyPr>
          <a:lstStyle/>
          <a:p>
            <a:pPr algn="ctr"/>
            <a:r>
              <a:rPr lang="en-GB" sz="2800" b="1" u="sng" dirty="0">
                <a:effectLst>
                  <a:outerShdw blurRad="38100" dist="38100" dir="2700000" algn="tl">
                    <a:srgbClr val="000000">
                      <a:alpha val="43137"/>
                    </a:srgbClr>
                  </a:outerShdw>
                </a:effectLst>
              </a:rPr>
              <a:t>SPREADSHEET PROJECT</a:t>
            </a:r>
          </a:p>
          <a:p>
            <a:pPr algn="ctr"/>
            <a:endParaRPr lang="en-GB" sz="2800" b="1" u="sng" dirty="0">
              <a:latin typeface="Agency FB" panose="020B0503020202020204" pitchFamily="34" charset="0"/>
            </a:endParaRPr>
          </a:p>
          <a:p>
            <a:pPr algn="ctr"/>
            <a:r>
              <a:rPr lang="en-GB" sz="4000" b="1" spc="-150" dirty="0">
                <a:solidFill>
                  <a:srgbClr val="FF0000"/>
                </a:solidFill>
                <a:effectLst>
                  <a:outerShdw blurRad="38100" dist="38100" dir="2700000" algn="tl">
                    <a:srgbClr val="000000">
                      <a:alpha val="43137"/>
                    </a:srgbClr>
                  </a:outerShdw>
                </a:effectLst>
                <a:cs typeface="Segoe UI" panose="020B0502040204020203" pitchFamily="34" charset="0"/>
              </a:rPr>
              <a:t>Zomato</a:t>
            </a:r>
            <a:r>
              <a:rPr lang="en-GB" sz="4000" b="1" spc="-150" dirty="0">
                <a:solidFill>
                  <a:schemeClr val="bg1"/>
                </a:solidFill>
                <a:effectLst>
                  <a:outerShdw blurRad="38100" dist="38100" dir="2700000" algn="tl">
                    <a:srgbClr val="000000">
                      <a:alpha val="43137"/>
                    </a:srgbClr>
                  </a:outerShdw>
                </a:effectLst>
                <a:cs typeface="Segoe UI" panose="020B0502040204020203" pitchFamily="34" charset="0"/>
              </a:rPr>
              <a:t> </a:t>
            </a:r>
            <a:r>
              <a:rPr lang="en-GB" sz="4000" b="1" spc="-150" dirty="0">
                <a:effectLst>
                  <a:outerShdw blurRad="38100" dist="38100" dir="2700000" algn="tl">
                    <a:srgbClr val="000000">
                      <a:alpha val="43137"/>
                    </a:srgbClr>
                  </a:outerShdw>
                </a:effectLst>
                <a:cs typeface="Segoe UI" panose="020B0502040204020203" pitchFamily="34" charset="0"/>
              </a:rPr>
              <a:t>Restaurant Expansion Strategy</a:t>
            </a:r>
          </a:p>
          <a:p>
            <a:endParaRPr lang="en-GB" sz="2400" b="1" dirty="0">
              <a:latin typeface="Montserrat" panose="00000500000000000000" pitchFamily="2" charset="0"/>
            </a:endParaRPr>
          </a:p>
          <a:p>
            <a:pPr algn="ctr"/>
            <a:r>
              <a:rPr lang="en-US" sz="1600" i="1" dirty="0"/>
              <a:t>A Data-driven Analysis &amp; Recommendation</a:t>
            </a:r>
          </a:p>
          <a:p>
            <a:pPr algn="ctr"/>
            <a:endParaRPr lang="en-US" i="1" dirty="0"/>
          </a:p>
          <a:p>
            <a:pPr algn="ctr"/>
            <a:endParaRPr lang="en-US" i="1" dirty="0"/>
          </a:p>
          <a:p>
            <a:pPr algn="ctr"/>
            <a:r>
              <a:rPr lang="en-US" sz="2000" b="1" dirty="0">
                <a:effectLst>
                  <a:outerShdw blurRad="38100" dist="38100" dir="2700000" algn="tl">
                    <a:srgbClr val="000000">
                      <a:alpha val="43137"/>
                    </a:srgbClr>
                  </a:outerShdw>
                </a:effectLst>
              </a:rPr>
              <a:t>By: RAHUL M</a:t>
            </a:r>
          </a:p>
          <a:p>
            <a:pPr algn="ctr"/>
            <a:r>
              <a:rPr lang="en-US" sz="2000" b="1" dirty="0">
                <a:effectLst>
                  <a:outerShdw blurRad="38100" dist="38100" dir="2700000" algn="tl">
                    <a:srgbClr val="000000">
                      <a:alpha val="43137"/>
                    </a:srgbClr>
                  </a:outerShdw>
                </a:effectLst>
              </a:rPr>
              <a:t>Date:26/09/2025</a:t>
            </a:r>
          </a:p>
        </p:txBody>
      </p:sp>
      <p:pic>
        <p:nvPicPr>
          <p:cNvPr id="9" name="Picture 8">
            <a:extLst>
              <a:ext uri="{FF2B5EF4-FFF2-40B4-BE49-F238E27FC236}">
                <a16:creationId xmlns:a16="http://schemas.microsoft.com/office/drawing/2014/main" id="{1A0E1A1C-2584-1047-8F3A-8AD5F6FF0E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1731" y="421848"/>
            <a:ext cx="5620732" cy="5620732"/>
          </a:xfrm>
          <a:prstGeom prst="rect">
            <a:avLst/>
          </a:prstGeom>
        </p:spPr>
      </p:pic>
    </p:spTree>
    <p:extLst>
      <p:ext uri="{BB962C8B-B14F-4D97-AF65-F5344CB8AC3E}">
        <p14:creationId xmlns:p14="http://schemas.microsoft.com/office/powerpoint/2010/main" val="2246851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89FC01-D0CF-4899-A184-1F0070363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F4E5A9FF-C93F-4A6D-ABDE-2533C301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5" name="Straight Connector 14">
            <a:extLst>
              <a:ext uri="{FF2B5EF4-FFF2-40B4-BE49-F238E27FC236}">
                <a16:creationId xmlns:a16="http://schemas.microsoft.com/office/drawing/2014/main" id="{890A4124-979D-4376-AA58-6501D58B67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4B019A08-55AD-4038-B865-37DA596B8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DAC3BC7-3E88-0310-D70E-1D637E862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48" y="278296"/>
            <a:ext cx="5645767" cy="5777869"/>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cxnSp>
        <p:nvCxnSpPr>
          <p:cNvPr id="19" name="Straight Connector 18">
            <a:extLst>
              <a:ext uri="{FF2B5EF4-FFF2-40B4-BE49-F238E27FC236}">
                <a16:creationId xmlns:a16="http://schemas.microsoft.com/office/drawing/2014/main" id="{2BA067F2-7FAF-4758-9BC4-F7C88ED904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A372508-A205-995E-7EBF-40EF1D208F90}"/>
              </a:ext>
            </a:extLst>
          </p:cNvPr>
          <p:cNvSpPr txBox="1"/>
          <p:nvPr/>
        </p:nvSpPr>
        <p:spPr>
          <a:xfrm>
            <a:off x="6053275" y="349396"/>
            <a:ext cx="5943151" cy="5635524"/>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500" u="sng" dirty="0">
                <a:solidFill>
                  <a:schemeClr val="tx1">
                    <a:lumMod val="75000"/>
                    <a:lumOff val="25000"/>
                  </a:schemeClr>
                </a:solidFill>
              </a:rPr>
              <a:t>What is </a:t>
            </a:r>
            <a:r>
              <a:rPr lang="en-US" sz="1500" b="1" u="sng" dirty="0">
                <a:solidFill>
                  <a:schemeClr val="tx1">
                    <a:lumMod val="75000"/>
                    <a:lumOff val="25000"/>
                  </a:schemeClr>
                </a:solidFill>
              </a:rPr>
              <a:t>Zomato</a:t>
            </a:r>
            <a:r>
              <a:rPr lang="en-US" sz="1500" u="sng" dirty="0">
                <a:solidFill>
                  <a:schemeClr val="tx1">
                    <a:lumMod val="75000"/>
                    <a:lumOff val="25000"/>
                  </a:schemeClr>
                </a:solidFill>
              </a:rPr>
              <a:t> &amp; how does it work?</a:t>
            </a:r>
          </a:p>
          <a:p>
            <a:pPr defTabSz="914400">
              <a:lnSpc>
                <a:spcPct val="90000"/>
              </a:lnSpc>
              <a:spcAft>
                <a:spcPts val="600"/>
              </a:spcAft>
              <a:buClr>
                <a:schemeClr val="accent1"/>
              </a:buClr>
              <a:buFont typeface="Calibri" panose="020F0502020204030204" pitchFamily="34" charset="0"/>
            </a:pPr>
            <a:endParaRPr lang="en-US" sz="1500" b="1" dirty="0">
              <a:solidFill>
                <a:schemeClr val="tx1">
                  <a:lumMod val="75000"/>
                  <a:lumOff val="25000"/>
                </a:schemeClr>
              </a:solidFill>
              <a:effectLst>
                <a:outerShdw blurRad="38100" dist="38100" dir="2700000" algn="tl">
                  <a:srgbClr val="000000">
                    <a:alpha val="43137"/>
                  </a:srgbClr>
                </a:outerShdw>
              </a:effectLst>
            </a:endParaRPr>
          </a:p>
          <a:p>
            <a:pPr defTabSz="914400">
              <a:lnSpc>
                <a:spcPct val="90000"/>
              </a:lnSpc>
              <a:spcAft>
                <a:spcPts val="600"/>
              </a:spcAft>
              <a:buClr>
                <a:schemeClr val="accent1"/>
              </a:buClr>
              <a:buFont typeface="Calibri" panose="020F0502020204030204" pitchFamily="34" charset="0"/>
            </a:pPr>
            <a:endParaRPr lang="en-US" sz="1500" b="1" i="1" u="sng"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b="1" i="1" dirty="0">
                <a:solidFill>
                  <a:schemeClr val="tx1">
                    <a:lumMod val="75000"/>
                    <a:lumOff val="25000"/>
                  </a:schemeClr>
                </a:solidFill>
              </a:rPr>
              <a:t>  </a:t>
            </a:r>
            <a:r>
              <a:rPr lang="en-US" sz="1500" b="1" i="1" u="sng" dirty="0">
                <a:solidFill>
                  <a:schemeClr val="tx1">
                    <a:lumMod val="75000"/>
                    <a:lumOff val="25000"/>
                  </a:schemeClr>
                </a:solidFill>
              </a:rPr>
              <a:t>Step 1</a:t>
            </a:r>
            <a:endParaRPr lang="en-US" sz="1500" b="1" i="1"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dirty="0">
                <a:solidFill>
                  <a:schemeClr val="tx1">
                    <a:lumMod val="75000"/>
                    <a:lumOff val="25000"/>
                  </a:schemeClr>
                </a:solidFill>
              </a:rPr>
              <a:t>Users may browse and order food from various restaurants via the desiccated app or website. </a:t>
            </a:r>
          </a:p>
          <a:p>
            <a:pPr defTabSz="914400">
              <a:lnSpc>
                <a:spcPct val="90000"/>
              </a:lnSpc>
              <a:spcAft>
                <a:spcPts val="600"/>
              </a:spcAft>
              <a:buClr>
                <a:schemeClr val="accent1"/>
              </a:buClr>
              <a:buFont typeface="Calibri" panose="020F0502020204030204" pitchFamily="34" charset="0"/>
            </a:pPr>
            <a:endParaRPr lang="en-US" sz="15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b="1" i="1" dirty="0">
                <a:solidFill>
                  <a:schemeClr val="tx1">
                    <a:lumMod val="75000"/>
                    <a:lumOff val="25000"/>
                  </a:schemeClr>
                </a:solidFill>
              </a:rPr>
              <a:t>  </a:t>
            </a:r>
            <a:r>
              <a:rPr lang="en-US" sz="1500" b="1" i="1" u="sng" dirty="0">
                <a:solidFill>
                  <a:schemeClr val="tx1">
                    <a:lumMod val="75000"/>
                    <a:lumOff val="25000"/>
                  </a:schemeClr>
                </a:solidFill>
              </a:rPr>
              <a:t>Step 2</a:t>
            </a:r>
            <a:endParaRPr lang="en-US" sz="1500" b="1" i="1"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dirty="0">
                <a:solidFill>
                  <a:schemeClr val="tx1">
                    <a:lumMod val="75000"/>
                    <a:lumOff val="25000"/>
                  </a:schemeClr>
                </a:solidFill>
              </a:rPr>
              <a:t>When restaurant owners receive an order request, they prepare a dish. </a:t>
            </a:r>
          </a:p>
          <a:p>
            <a:pPr defTabSz="914400">
              <a:lnSpc>
                <a:spcPct val="90000"/>
              </a:lnSpc>
              <a:spcAft>
                <a:spcPts val="600"/>
              </a:spcAft>
              <a:buClr>
                <a:schemeClr val="accent1"/>
              </a:buClr>
              <a:buFont typeface="Calibri" panose="020F0502020204030204" pitchFamily="34" charset="0"/>
            </a:pPr>
            <a:r>
              <a:rPr lang="en-US" sz="1500" b="1" i="1" dirty="0">
                <a:solidFill>
                  <a:schemeClr val="tx1">
                    <a:lumMod val="75000"/>
                    <a:lumOff val="25000"/>
                  </a:schemeClr>
                </a:solidFill>
              </a:rPr>
              <a:t>  </a:t>
            </a:r>
            <a:r>
              <a:rPr lang="en-US" sz="1500" b="1" i="1" u="sng" dirty="0">
                <a:solidFill>
                  <a:schemeClr val="tx1">
                    <a:lumMod val="75000"/>
                    <a:lumOff val="25000"/>
                  </a:schemeClr>
                </a:solidFill>
              </a:rPr>
              <a:t>Step 3</a:t>
            </a:r>
            <a:endParaRPr lang="en-US" sz="1500" b="1" i="1"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dirty="0">
                <a:solidFill>
                  <a:schemeClr val="tx1">
                    <a:lumMod val="75000"/>
                    <a:lumOff val="25000"/>
                  </a:schemeClr>
                </a:solidFill>
              </a:rPr>
              <a:t>As the food is prepared for delivery, it is given to delivery companies. </a:t>
            </a:r>
          </a:p>
          <a:p>
            <a:pPr defTabSz="914400">
              <a:lnSpc>
                <a:spcPct val="90000"/>
              </a:lnSpc>
              <a:spcAft>
                <a:spcPts val="600"/>
              </a:spcAft>
              <a:buClr>
                <a:schemeClr val="accent1"/>
              </a:buClr>
              <a:buFont typeface="Calibri" panose="020F0502020204030204" pitchFamily="34" charset="0"/>
            </a:pPr>
            <a:r>
              <a:rPr lang="en-US" sz="1500" b="1" i="1" dirty="0">
                <a:solidFill>
                  <a:schemeClr val="tx1">
                    <a:lumMod val="75000"/>
                    <a:lumOff val="25000"/>
                  </a:schemeClr>
                </a:solidFill>
              </a:rPr>
              <a:t>  </a:t>
            </a:r>
            <a:r>
              <a:rPr lang="en-US" sz="1500" b="1" i="1" u="sng" dirty="0">
                <a:solidFill>
                  <a:schemeClr val="tx1">
                    <a:lumMod val="75000"/>
                    <a:lumOff val="25000"/>
                  </a:schemeClr>
                </a:solidFill>
              </a:rPr>
              <a:t>Step 4</a:t>
            </a:r>
            <a:endParaRPr lang="en-US" sz="1500" b="1" i="1"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dirty="0">
                <a:solidFill>
                  <a:schemeClr val="tx1">
                    <a:lumMod val="75000"/>
                    <a:lumOff val="25000"/>
                  </a:schemeClr>
                </a:solidFill>
              </a:rPr>
              <a:t>The delivery service delivers food to the customer's preferred location. </a:t>
            </a:r>
          </a:p>
          <a:p>
            <a:pPr defTabSz="914400">
              <a:lnSpc>
                <a:spcPct val="90000"/>
              </a:lnSpc>
              <a:spcAft>
                <a:spcPts val="600"/>
              </a:spcAft>
              <a:buClr>
                <a:schemeClr val="accent1"/>
              </a:buClr>
              <a:buFont typeface="Calibri" panose="020F0502020204030204" pitchFamily="34" charset="0"/>
            </a:pPr>
            <a:r>
              <a:rPr lang="en-US" sz="1500" b="1" i="1" dirty="0">
                <a:solidFill>
                  <a:schemeClr val="tx1">
                    <a:lumMod val="75000"/>
                    <a:lumOff val="25000"/>
                  </a:schemeClr>
                </a:solidFill>
              </a:rPr>
              <a:t>  </a:t>
            </a:r>
            <a:r>
              <a:rPr lang="en-US" sz="1500" b="1" i="1" u="sng" dirty="0">
                <a:solidFill>
                  <a:schemeClr val="tx1">
                    <a:lumMod val="75000"/>
                    <a:lumOff val="25000"/>
                  </a:schemeClr>
                </a:solidFill>
              </a:rPr>
              <a:t>Step 5</a:t>
            </a:r>
            <a:endParaRPr lang="en-US" sz="1500" b="1" i="1"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1500" dirty="0">
                <a:solidFill>
                  <a:schemeClr val="tx1">
                    <a:lumMod val="75000"/>
                    <a:lumOff val="25000"/>
                  </a:schemeClr>
                </a:solidFill>
              </a:rPr>
              <a:t>Customers can make purchases and provide evaluations based on their experience using the payment options. </a:t>
            </a:r>
          </a:p>
          <a:p>
            <a:pPr marL="285750" indent="-285750" defTabSz="914400">
              <a:lnSpc>
                <a:spcPct val="90000"/>
              </a:lnSpc>
              <a:spcAft>
                <a:spcPts val="600"/>
              </a:spcAft>
              <a:buClr>
                <a:schemeClr val="accent1"/>
              </a:buClr>
              <a:buFont typeface="Calibri" panose="020F0502020204030204" pitchFamily="34" charset="0"/>
              <a:buChar char="§"/>
            </a:pPr>
            <a:endParaRPr lang="en-US" sz="700" b="1" dirty="0">
              <a:solidFill>
                <a:schemeClr val="tx1">
                  <a:lumMod val="75000"/>
                  <a:lumOff val="25000"/>
                </a:schemeClr>
              </a:solidFill>
              <a:effectLst>
                <a:outerShdw blurRad="38100" dist="38100" dir="2700000" algn="tl">
                  <a:srgbClr val="000000">
                    <a:alpha val="43137"/>
                  </a:srgbClr>
                </a:outerShdw>
              </a:effectLst>
            </a:endParaRPr>
          </a:p>
        </p:txBody>
      </p:sp>
      <p:sp>
        <p:nvSpPr>
          <p:cNvPr id="21" name="Rectangle 20">
            <a:extLst>
              <a:ext uri="{FF2B5EF4-FFF2-40B4-BE49-F238E27FC236}">
                <a16:creationId xmlns:a16="http://schemas.microsoft.com/office/drawing/2014/main" id="{1627C7B9-FD35-4E35-B741-E4A9A5F41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3" name="Rectangle 22">
            <a:extLst>
              <a:ext uri="{FF2B5EF4-FFF2-40B4-BE49-F238E27FC236}">
                <a16:creationId xmlns:a16="http://schemas.microsoft.com/office/drawing/2014/main" id="{476B7131-2035-43F9-84E8-2B4749D33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5618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0B5A4F6-3A68-4A9F-C7B4-51A071BE5B56}"/>
              </a:ext>
            </a:extLst>
          </p:cNvPr>
          <p:cNvGrpSpPr/>
          <p:nvPr/>
        </p:nvGrpSpPr>
        <p:grpSpPr>
          <a:xfrm>
            <a:off x="433387" y="1780261"/>
            <a:ext cx="11325225" cy="4111681"/>
            <a:chOff x="-199194" y="1658163"/>
            <a:chExt cx="12061341" cy="4157058"/>
          </a:xfrm>
          <a:effectLst>
            <a:outerShdw blurRad="50800" dist="38100" dir="5400000" algn="t" rotWithShape="0">
              <a:prstClr val="black">
                <a:alpha val="40000"/>
              </a:prstClr>
            </a:outerShdw>
          </a:effectLst>
        </p:grpSpPr>
        <p:grpSp>
          <p:nvGrpSpPr>
            <p:cNvPr id="3" name="Group 2">
              <a:extLst>
                <a:ext uri="{FF2B5EF4-FFF2-40B4-BE49-F238E27FC236}">
                  <a16:creationId xmlns:a16="http://schemas.microsoft.com/office/drawing/2014/main" id="{59D290CC-DF74-902D-5DE1-8B13CA5C4B9A}"/>
                </a:ext>
              </a:extLst>
            </p:cNvPr>
            <p:cNvGrpSpPr/>
            <p:nvPr/>
          </p:nvGrpSpPr>
          <p:grpSpPr>
            <a:xfrm>
              <a:off x="-199194" y="1658163"/>
              <a:ext cx="9634867" cy="4157057"/>
              <a:chOff x="1396157" y="4800600"/>
              <a:chExt cx="18335845" cy="7543800"/>
            </a:xfrm>
          </p:grpSpPr>
          <p:sp>
            <p:nvSpPr>
              <p:cNvPr id="7" name="Rectángulo 1">
                <a:extLst>
                  <a:ext uri="{FF2B5EF4-FFF2-40B4-BE49-F238E27FC236}">
                    <a16:creationId xmlns:a16="http://schemas.microsoft.com/office/drawing/2014/main" id="{7D693FAA-E142-18B4-1ABE-23A3D1870DD0}"/>
                  </a:ext>
                </a:extLst>
              </p:cNvPr>
              <p:cNvSpPr/>
              <p:nvPr/>
            </p:nvSpPr>
            <p:spPr>
              <a:xfrm>
                <a:off x="1396157" y="4800600"/>
                <a:ext cx="4405312" cy="7543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800" dirty="0">
                  <a:ln w="0"/>
                  <a:solidFill>
                    <a:schemeClr val="tx1"/>
                  </a:solidFill>
                  <a:effectLst>
                    <a:outerShdw blurRad="38100" dist="19050" dir="2700000" algn="tl" rotWithShape="0">
                      <a:schemeClr val="dk1">
                        <a:alpha val="40000"/>
                      </a:schemeClr>
                    </a:outerShdw>
                  </a:effectLst>
                </a:endParaRPr>
              </a:p>
            </p:txBody>
          </p:sp>
          <p:sp>
            <p:nvSpPr>
              <p:cNvPr id="8" name="Rectángulo 25">
                <a:extLst>
                  <a:ext uri="{FF2B5EF4-FFF2-40B4-BE49-F238E27FC236}">
                    <a16:creationId xmlns:a16="http://schemas.microsoft.com/office/drawing/2014/main" id="{C50F0D2E-F58C-7210-00E7-AEF4E5C80F16}"/>
                  </a:ext>
                </a:extLst>
              </p:cNvPr>
              <p:cNvSpPr/>
              <p:nvPr/>
            </p:nvSpPr>
            <p:spPr>
              <a:xfrm>
                <a:off x="6039668" y="4800600"/>
                <a:ext cx="4405312" cy="75438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n w="0"/>
                  <a:solidFill>
                    <a:schemeClr val="tx1"/>
                  </a:solidFill>
                  <a:effectLst>
                    <a:outerShdw blurRad="38100" dist="19050" dir="2700000" algn="tl" rotWithShape="0">
                      <a:schemeClr val="dk1">
                        <a:alpha val="40000"/>
                      </a:schemeClr>
                    </a:outerShdw>
                  </a:effectLst>
                </a:endParaRPr>
              </a:p>
            </p:txBody>
          </p:sp>
          <p:sp>
            <p:nvSpPr>
              <p:cNvPr id="9" name="Rectángulo 26">
                <a:extLst>
                  <a:ext uri="{FF2B5EF4-FFF2-40B4-BE49-F238E27FC236}">
                    <a16:creationId xmlns:a16="http://schemas.microsoft.com/office/drawing/2014/main" id="{D5E0ACFA-F229-FEDE-D23C-81AEEFF1F2CE}"/>
                  </a:ext>
                </a:extLst>
              </p:cNvPr>
              <p:cNvSpPr/>
              <p:nvPr/>
            </p:nvSpPr>
            <p:spPr>
              <a:xfrm>
                <a:off x="10683179" y="4800600"/>
                <a:ext cx="4405312" cy="75438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n w="0"/>
                  <a:solidFill>
                    <a:schemeClr val="tx1"/>
                  </a:solidFill>
                  <a:effectLst>
                    <a:outerShdw blurRad="38100" dist="19050" dir="2700000" algn="tl" rotWithShape="0">
                      <a:schemeClr val="dk1">
                        <a:alpha val="40000"/>
                      </a:schemeClr>
                    </a:outerShdw>
                  </a:effectLst>
                </a:endParaRPr>
              </a:p>
            </p:txBody>
          </p:sp>
          <p:sp>
            <p:nvSpPr>
              <p:cNvPr id="10" name="Rectángulo 28">
                <a:extLst>
                  <a:ext uri="{FF2B5EF4-FFF2-40B4-BE49-F238E27FC236}">
                    <a16:creationId xmlns:a16="http://schemas.microsoft.com/office/drawing/2014/main" id="{80278C63-C767-282C-864C-69CB16B3A5CB}"/>
                  </a:ext>
                </a:extLst>
              </p:cNvPr>
              <p:cNvSpPr/>
              <p:nvPr/>
            </p:nvSpPr>
            <p:spPr>
              <a:xfrm>
                <a:off x="15326690" y="4800600"/>
                <a:ext cx="4405312" cy="7543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n w="0"/>
                  <a:solidFill>
                    <a:schemeClr val="tx1"/>
                  </a:solidFill>
                  <a:effectLst>
                    <a:outerShdw blurRad="38100" dist="19050" dir="2700000" algn="tl" rotWithShape="0">
                      <a:schemeClr val="dk1">
                        <a:alpha val="40000"/>
                      </a:schemeClr>
                    </a:outerShdw>
                  </a:effectLst>
                </a:endParaRPr>
              </a:p>
            </p:txBody>
          </p:sp>
          <p:sp>
            <p:nvSpPr>
              <p:cNvPr id="11" name="CuadroTexto 350">
                <a:extLst>
                  <a:ext uri="{FF2B5EF4-FFF2-40B4-BE49-F238E27FC236}">
                    <a16:creationId xmlns:a16="http://schemas.microsoft.com/office/drawing/2014/main" id="{198D5E61-83B5-E3B2-0ECB-98DE50E4242A}"/>
                  </a:ext>
                </a:extLst>
              </p:cNvPr>
              <p:cNvSpPr txBox="1"/>
              <p:nvPr/>
            </p:nvSpPr>
            <p:spPr>
              <a:xfrm>
                <a:off x="2693055" y="6869874"/>
                <a:ext cx="2305596" cy="1185839"/>
              </a:xfrm>
              <a:prstGeom prst="rect">
                <a:avLst/>
              </a:prstGeom>
              <a:noFill/>
              <a:ln>
                <a:noFill/>
              </a:ln>
            </p:spPr>
            <p:txBody>
              <a:bodyPr wrap="square" rtlCol="0">
                <a:spAutoFit/>
              </a:bodyPr>
              <a:lstStyle/>
              <a:p>
                <a:r>
                  <a:rPr lang="en-US" sz="3600" dirty="0">
                    <a:ln w="0"/>
                    <a:latin typeface="Century Gothic" panose="020B0502020202020204" pitchFamily="34" charset="0"/>
                    <a:ea typeface="Lato Heavy" charset="0"/>
                    <a:cs typeface="Poppins" pitchFamily="2" charset="77"/>
                  </a:rPr>
                  <a:t>01</a:t>
                </a:r>
                <a:endParaRPr lang="en-US" sz="2000" dirty="0">
                  <a:ln w="0"/>
                  <a:latin typeface="Century Gothic" panose="020B0502020202020204" pitchFamily="34" charset="0"/>
                  <a:ea typeface="Lato Heavy" charset="0"/>
                  <a:cs typeface="Poppins" pitchFamily="2" charset="77"/>
                </a:endParaRPr>
              </a:p>
            </p:txBody>
          </p:sp>
          <p:sp>
            <p:nvSpPr>
              <p:cNvPr id="12" name="CuadroTexto 350">
                <a:extLst>
                  <a:ext uri="{FF2B5EF4-FFF2-40B4-BE49-F238E27FC236}">
                    <a16:creationId xmlns:a16="http://schemas.microsoft.com/office/drawing/2014/main" id="{A7A96D71-EF1C-854E-D0AF-9BC64E0A9B5D}"/>
                  </a:ext>
                </a:extLst>
              </p:cNvPr>
              <p:cNvSpPr txBox="1"/>
              <p:nvPr/>
            </p:nvSpPr>
            <p:spPr>
              <a:xfrm>
                <a:off x="6639163" y="6869874"/>
                <a:ext cx="2305596" cy="1298776"/>
              </a:xfrm>
              <a:prstGeom prst="rect">
                <a:avLst/>
              </a:prstGeom>
              <a:noFill/>
              <a:ln>
                <a:noFill/>
              </a:ln>
            </p:spPr>
            <p:txBody>
              <a:bodyPr wrap="square" rtlCol="0">
                <a:spAutoFit/>
              </a:bodyPr>
              <a:lstStyle/>
              <a:p>
                <a:r>
                  <a:rPr lang="en-US" sz="4000" dirty="0">
                    <a:ln w="0"/>
                    <a:latin typeface="Century Gothic" panose="020B0502020202020204" pitchFamily="34" charset="0"/>
                    <a:ea typeface="Lato Heavy" charset="0"/>
                    <a:cs typeface="Poppins" pitchFamily="2" charset="77"/>
                  </a:rPr>
                  <a:t>02</a:t>
                </a:r>
              </a:p>
            </p:txBody>
          </p:sp>
          <p:sp>
            <p:nvSpPr>
              <p:cNvPr id="13" name="CuadroTexto 350">
                <a:extLst>
                  <a:ext uri="{FF2B5EF4-FFF2-40B4-BE49-F238E27FC236}">
                    <a16:creationId xmlns:a16="http://schemas.microsoft.com/office/drawing/2014/main" id="{997951E8-851A-4F40-DB2D-1C17CF35487B}"/>
                  </a:ext>
                </a:extLst>
              </p:cNvPr>
              <p:cNvSpPr txBox="1"/>
              <p:nvPr/>
            </p:nvSpPr>
            <p:spPr>
              <a:xfrm>
                <a:off x="11231818" y="6869874"/>
                <a:ext cx="2305596" cy="1185839"/>
              </a:xfrm>
              <a:prstGeom prst="rect">
                <a:avLst/>
              </a:prstGeom>
              <a:noFill/>
              <a:ln>
                <a:noFill/>
              </a:ln>
            </p:spPr>
            <p:txBody>
              <a:bodyPr wrap="square" rtlCol="0">
                <a:spAutoFit/>
              </a:bodyPr>
              <a:lstStyle/>
              <a:p>
                <a:r>
                  <a:rPr lang="en-US" sz="3600" dirty="0">
                    <a:ln w="0"/>
                    <a:effectLst>
                      <a:outerShdw blurRad="38100" dist="19050" dir="2700000" algn="tl" rotWithShape="0">
                        <a:schemeClr val="dk1">
                          <a:alpha val="40000"/>
                        </a:schemeClr>
                      </a:outerShdw>
                    </a:effectLst>
                    <a:latin typeface="Century Gothic" panose="020B0502020202020204" pitchFamily="34" charset="0"/>
                    <a:ea typeface="Lato Heavy" charset="0"/>
                    <a:cs typeface="Poppins" pitchFamily="2" charset="77"/>
                  </a:rPr>
                  <a:t>03</a:t>
                </a:r>
              </a:p>
            </p:txBody>
          </p:sp>
          <p:sp>
            <p:nvSpPr>
              <p:cNvPr id="14" name="CuadroTexto 350">
                <a:extLst>
                  <a:ext uri="{FF2B5EF4-FFF2-40B4-BE49-F238E27FC236}">
                    <a16:creationId xmlns:a16="http://schemas.microsoft.com/office/drawing/2014/main" id="{0D918531-D62B-08F0-39C3-D30A75192128}"/>
                  </a:ext>
                </a:extLst>
              </p:cNvPr>
              <p:cNvSpPr txBox="1"/>
              <p:nvPr/>
            </p:nvSpPr>
            <p:spPr>
              <a:xfrm>
                <a:off x="15875330" y="6869874"/>
                <a:ext cx="2305596" cy="1185839"/>
              </a:xfrm>
              <a:prstGeom prst="rect">
                <a:avLst/>
              </a:prstGeom>
              <a:noFill/>
              <a:ln>
                <a:noFill/>
              </a:ln>
            </p:spPr>
            <p:txBody>
              <a:bodyPr wrap="square" rtlCol="0">
                <a:spAutoFit/>
              </a:bodyPr>
              <a:lstStyle/>
              <a:p>
                <a:r>
                  <a:rPr lang="en-US" sz="3600" dirty="0">
                    <a:ln w="0"/>
                    <a:latin typeface="Century Gothic" panose="020B0502020202020204" pitchFamily="34" charset="0"/>
                    <a:ea typeface="Lato Heavy" charset="0"/>
                    <a:cs typeface="Poppins" pitchFamily="2" charset="77"/>
                  </a:rPr>
                  <a:t>04</a:t>
                </a:r>
              </a:p>
            </p:txBody>
          </p:sp>
          <p:sp>
            <p:nvSpPr>
              <p:cNvPr id="15" name="CuadroTexto 395">
                <a:extLst>
                  <a:ext uri="{FF2B5EF4-FFF2-40B4-BE49-F238E27FC236}">
                    <a16:creationId xmlns:a16="http://schemas.microsoft.com/office/drawing/2014/main" id="{F56B0D76-12E6-A04B-1FFD-D95C24C94ADE}"/>
                  </a:ext>
                </a:extLst>
              </p:cNvPr>
              <p:cNvSpPr txBox="1"/>
              <p:nvPr/>
            </p:nvSpPr>
            <p:spPr>
              <a:xfrm>
                <a:off x="2121574" y="8403632"/>
                <a:ext cx="3100332" cy="1863462"/>
              </a:xfrm>
              <a:prstGeom prst="rect">
                <a:avLst/>
              </a:prstGeom>
              <a:noFill/>
              <a:ln>
                <a:noFill/>
              </a:ln>
            </p:spPr>
            <p:txBody>
              <a:bodyPr wrap="square" rtlCol="0">
                <a:spAutoFit/>
              </a:bodyPr>
              <a:lstStyle/>
              <a:p>
                <a:r>
                  <a:rPr lang="en-GB" sz="2000" i="0" u="none" strike="noStrike" dirty="0">
                    <a:ln w="0"/>
                    <a:ea typeface="Lato"/>
                    <a:cs typeface="Lato"/>
                    <a:sym typeface="Lato"/>
                  </a:rPr>
                  <a:t>Problem objective/ Statement</a:t>
                </a:r>
              </a:p>
            </p:txBody>
          </p:sp>
          <p:sp>
            <p:nvSpPr>
              <p:cNvPr id="16" name="Rectangle 56">
                <a:extLst>
                  <a:ext uri="{FF2B5EF4-FFF2-40B4-BE49-F238E27FC236}">
                    <a16:creationId xmlns:a16="http://schemas.microsoft.com/office/drawing/2014/main" id="{34D6DB3B-11FE-D7C0-E5AD-7969C7060198}"/>
                  </a:ext>
                </a:extLst>
              </p:cNvPr>
              <p:cNvSpPr/>
              <p:nvPr/>
            </p:nvSpPr>
            <p:spPr>
              <a:xfrm>
                <a:off x="1985622" y="9115747"/>
                <a:ext cx="3372240" cy="423513"/>
              </a:xfrm>
              <a:prstGeom prst="rect">
                <a:avLst/>
              </a:prstGeom>
              <a:ln>
                <a:noFill/>
              </a:ln>
            </p:spPr>
            <p:txBody>
              <a:bodyPr wrap="square">
                <a:spAutoFit/>
              </a:bodyPr>
              <a:lstStyle/>
              <a:p>
                <a:endParaRPr lang="en-US" sz="900" dirty="0">
                  <a:ln w="0"/>
                  <a:effectLst>
                    <a:outerShdw blurRad="38100" dist="19050" dir="2700000" algn="tl" rotWithShape="0">
                      <a:schemeClr val="dk1">
                        <a:alpha val="40000"/>
                      </a:schemeClr>
                    </a:outerShdw>
                  </a:effectLst>
                  <a:latin typeface="Century Gothic" panose="020B0502020202020204" pitchFamily="34" charset="0"/>
                  <a:ea typeface="Lato Light" panose="020F0502020204030203" pitchFamily="34" charset="0"/>
                  <a:cs typeface="Poppins Light" pitchFamily="2" charset="77"/>
                </a:endParaRPr>
              </a:p>
            </p:txBody>
          </p:sp>
          <p:sp>
            <p:nvSpPr>
              <p:cNvPr id="17" name="CuadroTexto 395">
                <a:extLst>
                  <a:ext uri="{FF2B5EF4-FFF2-40B4-BE49-F238E27FC236}">
                    <a16:creationId xmlns:a16="http://schemas.microsoft.com/office/drawing/2014/main" id="{C6F4A094-4B8A-7DB1-CC72-C6919C440C46}"/>
                  </a:ext>
                </a:extLst>
              </p:cNvPr>
              <p:cNvSpPr txBox="1"/>
              <p:nvPr/>
            </p:nvSpPr>
            <p:spPr>
              <a:xfrm>
                <a:off x="6705036" y="8403632"/>
                <a:ext cx="3100332" cy="1298776"/>
              </a:xfrm>
              <a:prstGeom prst="rect">
                <a:avLst/>
              </a:prstGeom>
              <a:noFill/>
              <a:ln>
                <a:noFill/>
              </a:ln>
            </p:spPr>
            <p:txBody>
              <a:bodyPr wrap="square" rtlCol="0">
                <a:spAutoFit/>
              </a:bodyPr>
              <a:lstStyle/>
              <a:p>
                <a:r>
                  <a:rPr lang="en-GB" sz="2000" dirty="0">
                    <a:ln w="0"/>
                    <a:ea typeface="Lato"/>
                    <a:cs typeface="Lato"/>
                    <a:sym typeface="Lato"/>
                  </a:rPr>
                  <a:t>Objective </a:t>
                </a:r>
              </a:p>
              <a:p>
                <a:r>
                  <a:rPr lang="en-GB" sz="2000" dirty="0">
                    <a:ln w="0"/>
                    <a:ea typeface="Lato"/>
                    <a:cs typeface="Lato"/>
                    <a:sym typeface="Lato"/>
                  </a:rPr>
                  <a:t>Of Project</a:t>
                </a:r>
                <a:endParaRPr lang="en-GB" sz="2000" i="0" u="none" strike="noStrike" dirty="0">
                  <a:ln w="0"/>
                  <a:ea typeface="Lato"/>
                  <a:cs typeface="Lato"/>
                  <a:sym typeface="Lato"/>
                </a:endParaRPr>
              </a:p>
            </p:txBody>
          </p:sp>
          <p:sp>
            <p:nvSpPr>
              <p:cNvPr id="18" name="CuadroTexto 395">
                <a:extLst>
                  <a:ext uri="{FF2B5EF4-FFF2-40B4-BE49-F238E27FC236}">
                    <a16:creationId xmlns:a16="http://schemas.microsoft.com/office/drawing/2014/main" id="{5E2FA512-66E9-A901-4E7C-EDE1D272C659}"/>
                  </a:ext>
                </a:extLst>
              </p:cNvPr>
              <p:cNvSpPr txBox="1"/>
              <p:nvPr/>
            </p:nvSpPr>
            <p:spPr>
              <a:xfrm>
                <a:off x="10683178" y="8284582"/>
                <a:ext cx="4049556" cy="2081218"/>
              </a:xfrm>
              <a:prstGeom prst="rect">
                <a:avLst/>
              </a:prstGeom>
              <a:noFill/>
              <a:ln>
                <a:noFill/>
              </a:ln>
            </p:spPr>
            <p:txBody>
              <a:bodyPr wrap="square" rtlCol="0">
                <a:spAutoFit/>
              </a:bodyPr>
              <a:lstStyle/>
              <a:p>
                <a:pPr marL="114300" marR="0" lvl="0" algn="l" rtl="0">
                  <a:lnSpc>
                    <a:spcPct val="115000"/>
                  </a:lnSpc>
                  <a:spcBef>
                    <a:spcPts val="0"/>
                  </a:spcBef>
                  <a:spcAft>
                    <a:spcPts val="0"/>
                  </a:spcAft>
                  <a:buClr>
                    <a:srgbClr val="000000"/>
                  </a:buClr>
                  <a:buSzPts val="1800"/>
                </a:pPr>
                <a:r>
                  <a:rPr lang="en-US" sz="2000" dirty="0">
                    <a:ln w="0"/>
                    <a:ea typeface="Lato"/>
                    <a:cs typeface="Lato"/>
                    <a:sym typeface="Lato"/>
                  </a:rPr>
                  <a:t>Data Description &amp;</a:t>
                </a:r>
                <a:r>
                  <a:rPr lang="en-US" sz="2000" i="0" u="none" strike="noStrike" dirty="0">
                    <a:ln w="0"/>
                    <a:ea typeface="Lato"/>
                    <a:cs typeface="Lato"/>
                    <a:sym typeface="Lato"/>
                  </a:rPr>
                  <a:t> Methodology</a:t>
                </a:r>
              </a:p>
            </p:txBody>
          </p:sp>
          <p:sp>
            <p:nvSpPr>
              <p:cNvPr id="19" name="CuadroTexto 395">
                <a:extLst>
                  <a:ext uri="{FF2B5EF4-FFF2-40B4-BE49-F238E27FC236}">
                    <a16:creationId xmlns:a16="http://schemas.microsoft.com/office/drawing/2014/main" id="{FB237744-84D8-3F71-BA60-AC8BB596A278}"/>
                  </a:ext>
                </a:extLst>
              </p:cNvPr>
              <p:cNvSpPr txBox="1"/>
              <p:nvPr/>
            </p:nvSpPr>
            <p:spPr>
              <a:xfrm>
                <a:off x="15875331" y="8284582"/>
                <a:ext cx="3414435" cy="1298776"/>
              </a:xfrm>
              <a:prstGeom prst="rect">
                <a:avLst/>
              </a:prstGeom>
              <a:noFill/>
              <a:ln>
                <a:noFill/>
              </a:ln>
            </p:spPr>
            <p:txBody>
              <a:bodyPr wrap="square" rtlCol="0">
                <a:spAutoFit/>
              </a:bodyPr>
              <a:lstStyle/>
              <a:p>
                <a:r>
                  <a:rPr lang="en-GB" sz="2000" dirty="0">
                    <a:ln w="0"/>
                    <a:ea typeface="Lato"/>
                    <a:cs typeface="Lato"/>
                    <a:sym typeface="Lato"/>
                  </a:rPr>
                  <a:t>Key Metrics &amp; Visualisation</a:t>
                </a:r>
                <a:endParaRPr lang="en-GB" sz="2000" i="0" u="none" strike="noStrike" dirty="0">
                  <a:ln w="0"/>
                  <a:ea typeface="Lato"/>
                  <a:cs typeface="Lato"/>
                  <a:sym typeface="Lato"/>
                </a:endParaRPr>
              </a:p>
            </p:txBody>
          </p:sp>
        </p:grpSp>
        <p:sp>
          <p:nvSpPr>
            <p:cNvPr id="4" name="Rectángulo 28">
              <a:extLst>
                <a:ext uri="{FF2B5EF4-FFF2-40B4-BE49-F238E27FC236}">
                  <a16:creationId xmlns:a16="http://schemas.microsoft.com/office/drawing/2014/main" id="{14A0F95C-8CE5-4BFF-5154-D4B067287DD4}"/>
                </a:ext>
              </a:extLst>
            </p:cNvPr>
            <p:cNvSpPr/>
            <p:nvPr/>
          </p:nvSpPr>
          <p:spPr>
            <a:xfrm>
              <a:off x="9547304" y="1658164"/>
              <a:ext cx="2314843" cy="415705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n w="0"/>
                <a:solidFill>
                  <a:schemeClr val="tx1"/>
                </a:solidFill>
                <a:effectLst>
                  <a:outerShdw blurRad="38100" dist="19050" dir="2700000" algn="tl" rotWithShape="0">
                    <a:schemeClr val="dk1">
                      <a:alpha val="40000"/>
                    </a:schemeClr>
                  </a:outerShdw>
                </a:effectLst>
              </a:endParaRPr>
            </a:p>
          </p:txBody>
        </p:sp>
        <p:sp>
          <p:nvSpPr>
            <p:cNvPr id="5" name="CuadroTexto 395">
              <a:extLst>
                <a:ext uri="{FF2B5EF4-FFF2-40B4-BE49-F238E27FC236}">
                  <a16:creationId xmlns:a16="http://schemas.microsoft.com/office/drawing/2014/main" id="{514D3C66-A406-65FA-4974-4B8CFE3CD0CC}"/>
                </a:ext>
              </a:extLst>
            </p:cNvPr>
            <p:cNvSpPr txBox="1"/>
            <p:nvPr/>
          </p:nvSpPr>
          <p:spPr>
            <a:xfrm>
              <a:off x="9596857" y="3643636"/>
              <a:ext cx="2158074" cy="1026872"/>
            </a:xfrm>
            <a:prstGeom prst="rect">
              <a:avLst/>
            </a:prstGeom>
            <a:noFill/>
            <a:ln>
              <a:noFill/>
            </a:ln>
            <a:effectLst/>
          </p:spPr>
          <p:txBody>
            <a:bodyPr wrap="square" rtlCol="0">
              <a:spAutoFit/>
            </a:bodyPr>
            <a:lstStyle/>
            <a:p>
              <a:r>
                <a:rPr lang="en-GB" sz="2000" i="0" u="none" strike="noStrike" dirty="0">
                  <a:ln w="0"/>
                  <a:ea typeface="Lato"/>
                  <a:cs typeface="Lato"/>
                  <a:sym typeface="Lato"/>
                </a:rPr>
                <a:t>Strategic Recommendation </a:t>
              </a:r>
              <a:r>
                <a:rPr lang="en-GB" sz="2000" i="0" u="none" strike="noStrike" dirty="0">
                  <a:ea typeface="Lato"/>
                  <a:cs typeface="Lato"/>
                  <a:sym typeface="Lato"/>
                </a:rPr>
                <a:t>and</a:t>
              </a:r>
              <a:r>
                <a:rPr lang="en-GB" sz="2000" i="0" u="none" strike="noStrike" dirty="0">
                  <a:ln w="0"/>
                  <a:ea typeface="Lato"/>
                  <a:cs typeface="Lato"/>
                  <a:sym typeface="Lato"/>
                </a:rPr>
                <a:t> Dashboard</a:t>
              </a:r>
            </a:p>
          </p:txBody>
        </p:sp>
        <p:sp>
          <p:nvSpPr>
            <p:cNvPr id="6" name="CuadroTexto 350">
              <a:extLst>
                <a:ext uri="{FF2B5EF4-FFF2-40B4-BE49-F238E27FC236}">
                  <a16:creationId xmlns:a16="http://schemas.microsoft.com/office/drawing/2014/main" id="{5912FB88-0CDA-8E6F-5F2B-46B6B8816DC4}"/>
                </a:ext>
              </a:extLst>
            </p:cNvPr>
            <p:cNvSpPr txBox="1"/>
            <p:nvPr/>
          </p:nvSpPr>
          <p:spPr>
            <a:xfrm>
              <a:off x="9816403" y="2829566"/>
              <a:ext cx="1123222" cy="653464"/>
            </a:xfrm>
            <a:prstGeom prst="rect">
              <a:avLst/>
            </a:prstGeom>
            <a:noFill/>
            <a:ln>
              <a:noFill/>
            </a:ln>
          </p:spPr>
          <p:txBody>
            <a:bodyPr wrap="square" rtlCol="0">
              <a:spAutoFit/>
            </a:bodyPr>
            <a:lstStyle/>
            <a:p>
              <a:r>
                <a:rPr lang="en-US" sz="3600" dirty="0">
                  <a:ln w="0"/>
                  <a:latin typeface="Century Gothic" panose="020B0502020202020204" pitchFamily="34" charset="0"/>
                  <a:ea typeface="Lato Heavy" charset="0"/>
                  <a:cs typeface="Poppins" pitchFamily="2" charset="77"/>
                </a:rPr>
                <a:t>05</a:t>
              </a:r>
            </a:p>
          </p:txBody>
        </p:sp>
      </p:grpSp>
      <p:sp>
        <p:nvSpPr>
          <p:cNvPr id="39" name="TextBox 38">
            <a:extLst>
              <a:ext uri="{FF2B5EF4-FFF2-40B4-BE49-F238E27FC236}">
                <a16:creationId xmlns:a16="http://schemas.microsoft.com/office/drawing/2014/main" id="{EDEF687C-C4DF-EE45-1F56-C3CBCCB50CC8}"/>
              </a:ext>
            </a:extLst>
          </p:cNvPr>
          <p:cNvSpPr txBox="1"/>
          <p:nvPr/>
        </p:nvSpPr>
        <p:spPr>
          <a:xfrm>
            <a:off x="2820784" y="246029"/>
            <a:ext cx="6096000" cy="584775"/>
          </a:xfrm>
          <a:prstGeom prst="rect">
            <a:avLst/>
          </a:prstGeom>
          <a:noFill/>
        </p:spPr>
        <p:txBody>
          <a:bodyPr wrap="square">
            <a:spAutoFit/>
          </a:bodyPr>
          <a:lstStyle/>
          <a:p>
            <a:pPr algn="ctr"/>
            <a:r>
              <a:rPr lang="en-US" sz="3200" b="1" u="sng" dirty="0">
                <a:ea typeface="Lato Heavy" charset="0"/>
                <a:cs typeface="Poppins" pitchFamily="2" charset="77"/>
              </a:rPr>
              <a:t>Agenda</a:t>
            </a:r>
            <a:endParaRPr lang="en-US" sz="6600" b="1" u="sng" dirty="0">
              <a:ea typeface="Lato Heavy" charset="0"/>
              <a:cs typeface="Poppins" pitchFamily="2" charset="77"/>
            </a:endParaRPr>
          </a:p>
        </p:txBody>
      </p:sp>
    </p:spTree>
    <p:extLst>
      <p:ext uri="{BB962C8B-B14F-4D97-AF65-F5344CB8AC3E}">
        <p14:creationId xmlns:p14="http://schemas.microsoft.com/office/powerpoint/2010/main" val="1658022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D16DD8-B974-F7FD-6655-5B7DB472234A}"/>
              </a:ext>
            </a:extLst>
          </p:cNvPr>
          <p:cNvSpPr txBox="1"/>
          <p:nvPr/>
        </p:nvSpPr>
        <p:spPr>
          <a:xfrm>
            <a:off x="5863471" y="1590261"/>
            <a:ext cx="5280780" cy="150810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endParaRPr lang="en-US" sz="2800" dirty="0">
              <a:solidFill>
                <a:srgbClr val="FF0000"/>
              </a:solidFill>
              <a:effectLst>
                <a:outerShdw blurRad="38100" dist="38100" dir="2700000" algn="tl">
                  <a:srgbClr val="000000">
                    <a:alpha val="43137"/>
                  </a:srgbClr>
                </a:outerShdw>
              </a:effectLst>
              <a:latin typeface="Book Antiqua" panose="02040602050305030304" pitchFamily="18" charset="0"/>
            </a:endParaRPr>
          </a:p>
          <a:p>
            <a:r>
              <a:rPr lang="en-US" sz="1600" dirty="0"/>
              <a:t>Zomato is aiming to expand its presence by identifying new strategic locations for restaurant openings. This project uses data-driven insights to suggest optimal areas for expansion based on ratings, price, votes, and cuisines.</a:t>
            </a:r>
          </a:p>
        </p:txBody>
      </p:sp>
      <p:pic>
        <p:nvPicPr>
          <p:cNvPr id="4" name="Picture 3">
            <a:extLst>
              <a:ext uri="{FF2B5EF4-FFF2-40B4-BE49-F238E27FC236}">
                <a16:creationId xmlns:a16="http://schemas.microsoft.com/office/drawing/2014/main" id="{439D80EE-9880-8649-1D06-31CA6F07C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70" y="1512914"/>
            <a:ext cx="5627801" cy="3916925"/>
          </a:xfrm>
          <a:prstGeom prst="rect">
            <a:avLst/>
          </a:prstGeom>
        </p:spPr>
      </p:pic>
    </p:spTree>
    <p:extLst>
      <p:ext uri="{BB962C8B-B14F-4D97-AF65-F5344CB8AC3E}">
        <p14:creationId xmlns:p14="http://schemas.microsoft.com/office/powerpoint/2010/main" val="155660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178895-1950-5EC2-9526-D3A6D03D71B6}"/>
              </a:ext>
            </a:extLst>
          </p:cNvPr>
          <p:cNvSpPr txBox="1"/>
          <p:nvPr/>
        </p:nvSpPr>
        <p:spPr>
          <a:xfrm>
            <a:off x="581026" y="198388"/>
            <a:ext cx="10829924" cy="1354217"/>
          </a:xfrm>
          <a:prstGeom prst="rect">
            <a:avLst/>
          </a:prstGeom>
          <a:noFill/>
        </p:spPr>
        <p:txBody>
          <a:bodyPr wrap="square">
            <a:spAutoFit/>
          </a:bodyPr>
          <a:lstStyle/>
          <a:p>
            <a:pPr algn="ctr" rtl="0">
              <a:buNone/>
            </a:pPr>
            <a:r>
              <a:rPr lang="en-US" sz="3200" b="1" i="0" u="sng" strike="noStrike" dirty="0">
                <a:effectLst/>
              </a:rPr>
              <a:t>Problem Statement</a:t>
            </a:r>
            <a:endParaRPr lang="en-US" sz="3200" b="0" u="sng" dirty="0">
              <a:effectLst/>
            </a:endParaRPr>
          </a:p>
          <a:p>
            <a:pPr rtl="0">
              <a:buNone/>
            </a:pPr>
            <a:br>
              <a:rPr lang="en-US" b="0" dirty="0">
                <a:effectLst/>
              </a:rPr>
            </a:br>
            <a:r>
              <a:rPr lang="en-US" sz="1500" b="0" i="0" u="none" strike="noStrike" dirty="0">
                <a:solidFill>
                  <a:srgbClr val="000000"/>
                </a:solidFill>
                <a:effectLst/>
              </a:rPr>
              <a:t>You are hired as a consultant data analyst by Zomato where the team is looking for expansion and</a:t>
            </a:r>
            <a:r>
              <a:rPr lang="en-US" sz="1500" b="1" i="0" u="none" strike="noStrike" dirty="0">
                <a:solidFill>
                  <a:srgbClr val="000000"/>
                </a:solidFill>
                <a:effectLst/>
              </a:rPr>
              <a:t> </a:t>
            </a:r>
            <a:r>
              <a:rPr lang="en-US" sz="1500" b="0" i="0" u="none" strike="noStrike" dirty="0">
                <a:solidFill>
                  <a:srgbClr val="000000"/>
                </a:solidFill>
                <a:effectLst/>
              </a:rPr>
              <a:t>opening restaurants. Your task is to come up with strategies/suggestions about opening newer restaurants.</a:t>
            </a:r>
            <a:endParaRPr lang="en-US" sz="1500" dirty="0"/>
          </a:p>
        </p:txBody>
      </p:sp>
      <p:pic>
        <p:nvPicPr>
          <p:cNvPr id="1026" name="Picture 2">
            <a:extLst>
              <a:ext uri="{FF2B5EF4-FFF2-40B4-BE49-F238E27FC236}">
                <a16:creationId xmlns:a16="http://schemas.microsoft.com/office/drawing/2014/main" id="{1C2BF2D4-3C3E-1373-F33D-71C92CCAA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6" y="1689100"/>
            <a:ext cx="11029948" cy="458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3121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C7F22-6173-3486-8ADF-790BB7A7EAF6}"/>
              </a:ext>
            </a:extLst>
          </p:cNvPr>
          <p:cNvSpPr txBox="1"/>
          <p:nvPr/>
        </p:nvSpPr>
        <p:spPr>
          <a:xfrm>
            <a:off x="695325" y="1240989"/>
            <a:ext cx="5389729" cy="2262158"/>
          </a:xfrm>
          <a:prstGeom prst="rect">
            <a:avLst/>
          </a:prstGeom>
          <a:noFill/>
        </p:spPr>
        <p:txBody>
          <a:bodyPr wrap="square">
            <a:spAutoFit/>
          </a:bodyPr>
          <a:lstStyle/>
          <a:p>
            <a:pPr marL="342900" indent="-342900">
              <a:buFont typeface="+mj-lt"/>
              <a:buAutoNum type="arabicPeriod"/>
            </a:pPr>
            <a:r>
              <a:rPr lang="en-US" b="1" dirty="0">
                <a:solidFill>
                  <a:srgbClr val="FF0000"/>
                </a:solidFill>
              </a:rPr>
              <a:t>Detailed Restaurant Information:</a:t>
            </a:r>
          </a:p>
          <a:p>
            <a:r>
              <a:rPr lang="en-US" sz="1500" dirty="0"/>
              <a:t>Covers IDs, names, addresses, and locations</a:t>
            </a:r>
            <a:r>
              <a:rPr lang="en-US" sz="1400" dirty="0"/>
              <a:t>.</a:t>
            </a:r>
          </a:p>
          <a:p>
            <a:endParaRPr lang="en-US" sz="1800" dirty="0"/>
          </a:p>
          <a:p>
            <a:r>
              <a:rPr lang="en-US" sz="2000" dirty="0">
                <a:solidFill>
                  <a:srgbClr val="FF0000"/>
                </a:solidFill>
              </a:rPr>
              <a:t>2. </a:t>
            </a:r>
            <a:r>
              <a:rPr lang="en-US" b="1" dirty="0">
                <a:solidFill>
                  <a:srgbClr val="FF0000"/>
                </a:solidFill>
              </a:rPr>
              <a:t>Geographical Data: </a:t>
            </a:r>
            <a:endParaRPr lang="en-US" sz="2000" b="1" dirty="0">
              <a:solidFill>
                <a:srgbClr val="FF0000"/>
              </a:solidFill>
            </a:endParaRPr>
          </a:p>
          <a:p>
            <a:r>
              <a:rPr lang="en-US" sz="1500" dirty="0"/>
              <a:t>Provides longitude and latitude for precise location mapping.</a:t>
            </a:r>
          </a:p>
          <a:p>
            <a:endParaRPr lang="en-US" sz="2000" dirty="0"/>
          </a:p>
          <a:p>
            <a:r>
              <a:rPr lang="en-US" dirty="0">
                <a:solidFill>
                  <a:srgbClr val="FF0000"/>
                </a:solidFill>
              </a:rPr>
              <a:t>3. </a:t>
            </a:r>
            <a:r>
              <a:rPr lang="en-US" b="1" dirty="0">
                <a:solidFill>
                  <a:srgbClr val="FF0000"/>
                </a:solidFill>
              </a:rPr>
              <a:t>Categorical Data: </a:t>
            </a:r>
          </a:p>
          <a:p>
            <a:r>
              <a:rPr lang="en-US" sz="1500" dirty="0"/>
              <a:t>Includes location (Country Code, City), cuisine types, and currency.</a:t>
            </a:r>
          </a:p>
        </p:txBody>
      </p:sp>
      <p:sp>
        <p:nvSpPr>
          <p:cNvPr id="5" name="TextBox 4">
            <a:extLst>
              <a:ext uri="{FF2B5EF4-FFF2-40B4-BE49-F238E27FC236}">
                <a16:creationId xmlns:a16="http://schemas.microsoft.com/office/drawing/2014/main" id="{7B894AE3-725A-7523-BF76-05EC9B544F8C}"/>
              </a:ext>
            </a:extLst>
          </p:cNvPr>
          <p:cNvSpPr txBox="1"/>
          <p:nvPr/>
        </p:nvSpPr>
        <p:spPr>
          <a:xfrm>
            <a:off x="684379" y="3234541"/>
            <a:ext cx="5400675" cy="3231654"/>
          </a:xfrm>
          <a:prstGeom prst="rect">
            <a:avLst/>
          </a:prstGeom>
          <a:noFill/>
        </p:spPr>
        <p:txBody>
          <a:bodyPr wrap="square">
            <a:spAutoFit/>
          </a:bodyPr>
          <a:lstStyle/>
          <a:p>
            <a:endParaRPr lang="en-US" sz="1800" b="1" dirty="0"/>
          </a:p>
          <a:p>
            <a:endParaRPr lang="en-US" b="1" dirty="0">
              <a:solidFill>
                <a:srgbClr val="FF0000"/>
              </a:solidFill>
            </a:endParaRPr>
          </a:p>
          <a:p>
            <a:r>
              <a:rPr lang="en-US" b="1" dirty="0">
                <a:solidFill>
                  <a:srgbClr val="FF0000"/>
                </a:solidFill>
              </a:rPr>
              <a:t>4. Service Indicators: </a:t>
            </a:r>
          </a:p>
          <a:p>
            <a:r>
              <a:rPr lang="en-US" sz="1500" dirty="0"/>
              <a:t>Shows availability of table booking, online delivery, and current delivery status</a:t>
            </a:r>
            <a:r>
              <a:rPr lang="en-US" sz="1400" dirty="0"/>
              <a:t>.</a:t>
            </a:r>
          </a:p>
          <a:p>
            <a:endParaRPr lang="en-US" dirty="0"/>
          </a:p>
          <a:p>
            <a:r>
              <a:rPr lang="en-US" b="1" dirty="0">
                <a:solidFill>
                  <a:srgbClr val="FF0000"/>
                </a:solidFill>
              </a:rPr>
              <a:t>5. Financial Metrics: </a:t>
            </a:r>
          </a:p>
          <a:p>
            <a:r>
              <a:rPr lang="en-US" sz="1500" dirty="0"/>
              <a:t>Contains price range, average cost for two, and rating.</a:t>
            </a:r>
          </a:p>
          <a:p>
            <a:endParaRPr lang="en-US" sz="1800" dirty="0"/>
          </a:p>
          <a:p>
            <a:r>
              <a:rPr lang="en-US" b="1" dirty="0">
                <a:solidFill>
                  <a:srgbClr val="FF0000"/>
                </a:solidFill>
              </a:rPr>
              <a:t>6. Temporal Aspect: </a:t>
            </a:r>
          </a:p>
          <a:p>
            <a:r>
              <a:rPr lang="en-US" sz="1500" dirty="0"/>
              <a:t>Includes the opening date of each restaurant.</a:t>
            </a:r>
          </a:p>
          <a:p>
            <a:endParaRPr lang="en-US" sz="1800" dirty="0"/>
          </a:p>
        </p:txBody>
      </p:sp>
      <p:graphicFrame>
        <p:nvGraphicFramePr>
          <p:cNvPr id="6" name="Table 5">
            <a:extLst>
              <a:ext uri="{FF2B5EF4-FFF2-40B4-BE49-F238E27FC236}">
                <a16:creationId xmlns:a16="http://schemas.microsoft.com/office/drawing/2014/main" id="{B511E2A3-285E-DA1B-D567-9ED0497E8FE1}"/>
              </a:ext>
            </a:extLst>
          </p:cNvPr>
          <p:cNvGraphicFramePr>
            <a:graphicFrameLocks noGrp="1"/>
          </p:cNvGraphicFramePr>
          <p:nvPr>
            <p:extLst>
              <p:ext uri="{D42A27DB-BD31-4B8C-83A1-F6EECF244321}">
                <p14:modId xmlns:p14="http://schemas.microsoft.com/office/powerpoint/2010/main" val="3518274837"/>
              </p:ext>
            </p:extLst>
          </p:nvPr>
        </p:nvGraphicFramePr>
        <p:xfrm>
          <a:off x="6248402" y="1706806"/>
          <a:ext cx="5389729" cy="3444387"/>
        </p:xfrm>
        <a:graphic>
          <a:graphicData uri="http://schemas.openxmlformats.org/drawingml/2006/table">
            <a:tbl>
              <a:tblPr firstRow="1" bandRow="1">
                <a:tableStyleId>{ED083AE6-46FA-4A59-8FB0-9F97EB10719F}</a:tableStyleId>
              </a:tblPr>
              <a:tblGrid>
                <a:gridCol w="2101787">
                  <a:extLst>
                    <a:ext uri="{9D8B030D-6E8A-4147-A177-3AD203B41FA5}">
                      <a16:colId xmlns:a16="http://schemas.microsoft.com/office/drawing/2014/main" val="4147291289"/>
                    </a:ext>
                  </a:extLst>
                </a:gridCol>
                <a:gridCol w="3287942">
                  <a:extLst>
                    <a:ext uri="{9D8B030D-6E8A-4147-A177-3AD203B41FA5}">
                      <a16:colId xmlns:a16="http://schemas.microsoft.com/office/drawing/2014/main" val="2134195325"/>
                    </a:ext>
                  </a:extLst>
                </a:gridCol>
              </a:tblGrid>
              <a:tr h="444437">
                <a:tc>
                  <a:txBody>
                    <a:bodyPr/>
                    <a:lstStyle/>
                    <a:p>
                      <a:r>
                        <a:rPr lang="en-US" b="1" dirty="0"/>
                        <a:t>Total restaurants</a:t>
                      </a:r>
                      <a:endParaRPr lang="en-IN" b="1" dirty="0"/>
                    </a:p>
                  </a:txBody>
                  <a:tcPr/>
                </a:tc>
                <a:tc>
                  <a:txBody>
                    <a:bodyPr/>
                    <a:lstStyle/>
                    <a:p>
                      <a:r>
                        <a:rPr lang="en-US" b="1" dirty="0"/>
                        <a:t>9528</a:t>
                      </a:r>
                      <a:endParaRPr lang="en-IN" b="1" dirty="0"/>
                    </a:p>
                  </a:txBody>
                  <a:tcPr/>
                </a:tc>
                <a:extLst>
                  <a:ext uri="{0D108BD9-81ED-4DB2-BD59-A6C34878D82A}">
                    <a16:rowId xmlns:a16="http://schemas.microsoft.com/office/drawing/2014/main" val="1875698200"/>
                  </a:ext>
                </a:extLst>
              </a:tr>
              <a:tr h="444437">
                <a:tc>
                  <a:txBody>
                    <a:bodyPr/>
                    <a:lstStyle/>
                    <a:p>
                      <a:r>
                        <a:rPr lang="en-US" b="1" dirty="0"/>
                        <a:t>Total Country</a:t>
                      </a:r>
                      <a:endParaRPr lang="en-IN" b="1" dirty="0"/>
                    </a:p>
                  </a:txBody>
                  <a:tcPr/>
                </a:tc>
                <a:tc>
                  <a:txBody>
                    <a:bodyPr/>
                    <a:lstStyle/>
                    <a:p>
                      <a:r>
                        <a:rPr lang="en-US" b="1" dirty="0"/>
                        <a:t>150</a:t>
                      </a:r>
                      <a:endParaRPr lang="en-IN" b="1" dirty="0"/>
                    </a:p>
                  </a:txBody>
                  <a:tcPr/>
                </a:tc>
                <a:extLst>
                  <a:ext uri="{0D108BD9-81ED-4DB2-BD59-A6C34878D82A}">
                    <a16:rowId xmlns:a16="http://schemas.microsoft.com/office/drawing/2014/main" val="3998716678"/>
                  </a:ext>
                </a:extLst>
              </a:tr>
              <a:tr h="444437">
                <a:tc>
                  <a:txBody>
                    <a:bodyPr/>
                    <a:lstStyle/>
                    <a:p>
                      <a:r>
                        <a:rPr lang="en-US" b="1" dirty="0"/>
                        <a:t>Total Cities</a:t>
                      </a:r>
                      <a:endParaRPr lang="en-IN" b="1" dirty="0"/>
                    </a:p>
                  </a:txBody>
                  <a:tcPr/>
                </a:tc>
                <a:tc>
                  <a:txBody>
                    <a:bodyPr/>
                    <a:lstStyle/>
                    <a:p>
                      <a:r>
                        <a:rPr lang="en-US" b="1" dirty="0"/>
                        <a:t>140</a:t>
                      </a:r>
                      <a:endParaRPr lang="en-IN" b="1" dirty="0"/>
                    </a:p>
                  </a:txBody>
                  <a:tcPr/>
                </a:tc>
                <a:extLst>
                  <a:ext uri="{0D108BD9-81ED-4DB2-BD59-A6C34878D82A}">
                    <a16:rowId xmlns:a16="http://schemas.microsoft.com/office/drawing/2014/main" val="2992319788"/>
                  </a:ext>
                </a:extLst>
              </a:tr>
              <a:tr h="444437">
                <a:tc>
                  <a:txBody>
                    <a:bodyPr/>
                    <a:lstStyle/>
                    <a:p>
                      <a:r>
                        <a:rPr lang="en-US" b="1" dirty="0"/>
                        <a:t>Total Cuisines</a:t>
                      </a:r>
                      <a:endParaRPr lang="en-IN" b="1" dirty="0"/>
                    </a:p>
                  </a:txBody>
                  <a:tcPr/>
                </a:tc>
                <a:tc>
                  <a:txBody>
                    <a:bodyPr/>
                    <a:lstStyle/>
                    <a:p>
                      <a:r>
                        <a:rPr lang="en-US" b="1" dirty="0"/>
                        <a:t>1821</a:t>
                      </a:r>
                      <a:endParaRPr lang="en-IN" b="1" dirty="0"/>
                    </a:p>
                  </a:txBody>
                  <a:tcPr/>
                </a:tc>
                <a:extLst>
                  <a:ext uri="{0D108BD9-81ED-4DB2-BD59-A6C34878D82A}">
                    <a16:rowId xmlns:a16="http://schemas.microsoft.com/office/drawing/2014/main" val="2786060593"/>
                  </a:ext>
                </a:extLst>
              </a:tr>
              <a:tr h="444437">
                <a:tc>
                  <a:txBody>
                    <a:bodyPr/>
                    <a:lstStyle/>
                    <a:p>
                      <a:r>
                        <a:rPr lang="en-US" b="1" dirty="0"/>
                        <a:t>Service offered</a:t>
                      </a:r>
                      <a:endParaRPr lang="en-IN" b="1" dirty="0"/>
                    </a:p>
                  </a:txBody>
                  <a:tcPr/>
                </a:tc>
                <a:tc>
                  <a:txBody>
                    <a:bodyPr/>
                    <a:lstStyle/>
                    <a:p>
                      <a:r>
                        <a:rPr lang="en-US" b="1" dirty="0"/>
                        <a:t>Table booking , Online Delivery</a:t>
                      </a:r>
                      <a:endParaRPr lang="en-IN" b="1" dirty="0"/>
                    </a:p>
                  </a:txBody>
                  <a:tcPr/>
                </a:tc>
                <a:extLst>
                  <a:ext uri="{0D108BD9-81ED-4DB2-BD59-A6C34878D82A}">
                    <a16:rowId xmlns:a16="http://schemas.microsoft.com/office/drawing/2014/main" val="2140141589"/>
                  </a:ext>
                </a:extLst>
              </a:tr>
              <a:tr h="444437">
                <a:tc>
                  <a:txBody>
                    <a:bodyPr/>
                    <a:lstStyle/>
                    <a:p>
                      <a:r>
                        <a:rPr lang="en-US" b="1" dirty="0"/>
                        <a:t>Average Rating </a:t>
                      </a:r>
                      <a:endParaRPr lang="en-IN" b="1" dirty="0"/>
                    </a:p>
                  </a:txBody>
                  <a:tcPr/>
                </a:tc>
                <a:tc>
                  <a:txBody>
                    <a:bodyPr/>
                    <a:lstStyle/>
                    <a:p>
                      <a:r>
                        <a:rPr lang="en-US" b="1" dirty="0"/>
                        <a:t>2.9</a:t>
                      </a:r>
                      <a:endParaRPr lang="en-IN" b="1" dirty="0"/>
                    </a:p>
                  </a:txBody>
                  <a:tcPr/>
                </a:tc>
                <a:extLst>
                  <a:ext uri="{0D108BD9-81ED-4DB2-BD59-A6C34878D82A}">
                    <a16:rowId xmlns:a16="http://schemas.microsoft.com/office/drawing/2014/main" val="3973381962"/>
                  </a:ext>
                </a:extLst>
              </a:tr>
              <a:tr h="777765">
                <a:tc>
                  <a:txBody>
                    <a:bodyPr/>
                    <a:lstStyle/>
                    <a:p>
                      <a:r>
                        <a:rPr lang="en-US" b="1" dirty="0"/>
                        <a:t>Average Price in INR</a:t>
                      </a:r>
                      <a:endParaRPr lang="en-IN" b="1" dirty="0"/>
                    </a:p>
                  </a:txBody>
                  <a:tcPr/>
                </a:tc>
                <a:tc>
                  <a:txBody>
                    <a:bodyPr/>
                    <a:lstStyle/>
                    <a:p>
                      <a:r>
                        <a:rPr lang="en-US" b="1" dirty="0"/>
                        <a:t>Rs. 811</a:t>
                      </a:r>
                      <a:endParaRPr lang="en-IN" b="1" dirty="0"/>
                    </a:p>
                  </a:txBody>
                  <a:tcPr/>
                </a:tc>
                <a:extLst>
                  <a:ext uri="{0D108BD9-81ED-4DB2-BD59-A6C34878D82A}">
                    <a16:rowId xmlns:a16="http://schemas.microsoft.com/office/drawing/2014/main" val="1401239316"/>
                  </a:ext>
                </a:extLst>
              </a:tr>
            </a:tbl>
          </a:graphicData>
        </a:graphic>
      </p:graphicFrame>
      <p:sp>
        <p:nvSpPr>
          <p:cNvPr id="8" name="TextBox 7">
            <a:extLst>
              <a:ext uri="{FF2B5EF4-FFF2-40B4-BE49-F238E27FC236}">
                <a16:creationId xmlns:a16="http://schemas.microsoft.com/office/drawing/2014/main" id="{55C85249-4AAB-2CF4-5ECC-E7BC155B8605}"/>
              </a:ext>
            </a:extLst>
          </p:cNvPr>
          <p:cNvSpPr txBox="1"/>
          <p:nvPr/>
        </p:nvSpPr>
        <p:spPr>
          <a:xfrm>
            <a:off x="2847266" y="224909"/>
            <a:ext cx="6096000" cy="584775"/>
          </a:xfrm>
          <a:prstGeom prst="rect">
            <a:avLst/>
          </a:prstGeom>
          <a:noFill/>
        </p:spPr>
        <p:txBody>
          <a:bodyPr wrap="square">
            <a:spAutoFit/>
          </a:bodyPr>
          <a:lstStyle/>
          <a:p>
            <a:pPr algn="ctr"/>
            <a:r>
              <a:rPr lang="en-US" sz="3200" b="1" u="sng" dirty="0"/>
              <a:t>Data Overview</a:t>
            </a:r>
          </a:p>
        </p:txBody>
      </p:sp>
    </p:spTree>
    <p:extLst>
      <p:ext uri="{BB962C8B-B14F-4D97-AF65-F5344CB8AC3E}">
        <p14:creationId xmlns:p14="http://schemas.microsoft.com/office/powerpoint/2010/main" val="969189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08A41DC-DD08-9228-27C4-C63C0B327335}"/>
              </a:ext>
            </a:extLst>
          </p:cNvPr>
          <p:cNvSpPr txBox="1"/>
          <p:nvPr/>
        </p:nvSpPr>
        <p:spPr>
          <a:xfrm>
            <a:off x="3814508" y="309275"/>
            <a:ext cx="4414683" cy="584775"/>
          </a:xfrm>
          <a:prstGeom prst="rect">
            <a:avLst/>
          </a:prstGeom>
          <a:noFill/>
        </p:spPr>
        <p:txBody>
          <a:bodyPr wrap="square" rtlCol="0">
            <a:spAutoFit/>
          </a:bodyPr>
          <a:lstStyle/>
          <a:p>
            <a:pPr algn="ctr"/>
            <a:r>
              <a:rPr lang="en-GB" sz="3200" b="1" u="sng" dirty="0"/>
              <a:t>Objective Of Project</a:t>
            </a:r>
            <a:endParaRPr lang="en-US" sz="3200" b="1" u="sng" dirty="0"/>
          </a:p>
        </p:txBody>
      </p:sp>
      <p:sp>
        <p:nvSpPr>
          <p:cNvPr id="4" name="TextBox 3">
            <a:extLst>
              <a:ext uri="{FF2B5EF4-FFF2-40B4-BE49-F238E27FC236}">
                <a16:creationId xmlns:a16="http://schemas.microsoft.com/office/drawing/2014/main" id="{E6288C15-ADFF-A8FE-FA82-AA4402AC2DD4}"/>
              </a:ext>
            </a:extLst>
          </p:cNvPr>
          <p:cNvSpPr txBox="1"/>
          <p:nvPr/>
        </p:nvSpPr>
        <p:spPr>
          <a:xfrm>
            <a:off x="1740261" y="2010234"/>
            <a:ext cx="8563179" cy="2816156"/>
          </a:xfrm>
          <a:prstGeom prst="rect">
            <a:avLst/>
          </a:prstGeom>
          <a:noFill/>
        </p:spPr>
        <p:txBody>
          <a:bodyPr wrap="square">
            <a:spAutoFit/>
          </a:bodyPr>
          <a:lstStyle/>
          <a:p>
            <a:pPr marL="285750" lvl="0" indent="-285750">
              <a:buFont typeface="Arial" panose="020B0604020202020204" pitchFamily="34" charset="0"/>
              <a:buChar char="•"/>
            </a:pPr>
            <a:r>
              <a:rPr lang="en-US" sz="1500" i="0" baseline="0" dirty="0">
                <a:effectLst/>
              </a:rPr>
              <a:t>Determine possible nations for Zomato's growth. </a:t>
            </a:r>
          </a:p>
          <a:p>
            <a:pPr marL="285750" lvl="0" indent="-285750">
              <a:buFont typeface="Arial" panose="020B0604020202020204" pitchFamily="34" charset="0"/>
              <a:buChar char="•"/>
            </a:pPr>
            <a:endParaRPr lang="en-US" sz="1500" dirty="0"/>
          </a:p>
          <a:p>
            <a:pPr marL="285750" lvl="0" indent="-285750">
              <a:buFont typeface="Arial" panose="020B0604020202020204" pitchFamily="34" charset="0"/>
              <a:buChar char="•"/>
            </a:pPr>
            <a:r>
              <a:rPr lang="en-US" sz="1500" dirty="0"/>
              <a:t>Examine market patterns and the distribution of restaurants at various price points.</a:t>
            </a:r>
          </a:p>
          <a:p>
            <a:pPr marL="285750" lvl="0" indent="-285750">
              <a:buFont typeface="Arial" panose="020B0604020202020204" pitchFamily="34" charset="0"/>
              <a:buChar char="•"/>
            </a:pPr>
            <a:endParaRPr lang="en-US" sz="1500" dirty="0"/>
          </a:p>
          <a:p>
            <a:pPr marL="285750" lvl="0" indent="-285750">
              <a:buFont typeface="Arial" panose="020B0604020202020204" pitchFamily="34" charset="0"/>
              <a:buChar char="•"/>
            </a:pPr>
            <a:r>
              <a:rPr lang="en-US" sz="1500" dirty="0"/>
              <a:t>To enhance service delivery, collect feedback and customer satisfaction statistics. </a:t>
            </a:r>
            <a:br>
              <a:rPr lang="en-US" sz="1500" dirty="0"/>
            </a:br>
            <a:endParaRPr lang="en-US" sz="1500" dirty="0"/>
          </a:p>
          <a:p>
            <a:pPr marL="285750" lvl="0" indent="-285750">
              <a:buFont typeface="Arial" panose="020B0604020202020204" pitchFamily="34" charset="0"/>
              <a:buChar char="•"/>
            </a:pPr>
            <a:r>
              <a:rPr lang="en-US" sz="1500" dirty="0"/>
              <a:t>Analyze customer ratings &amp; votes to learn more about customer engagement &amp;the amount of competition in target areas. </a:t>
            </a:r>
          </a:p>
          <a:p>
            <a:pPr marL="285750" lvl="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Examine pricing tactics to make sure they are profitable and competitive. </a:t>
            </a:r>
            <a:br>
              <a:rPr lang="en-US" sz="1500" dirty="0"/>
            </a:br>
            <a:r>
              <a:rPr lang="en-US" sz="1500" dirty="0"/>
              <a:t>Analyze the tastes and habits of consumers in prospective markets. </a:t>
            </a:r>
          </a:p>
          <a:p>
            <a:pPr lvl="0"/>
            <a:endParaRPr lang="en-US" sz="1200" dirty="0"/>
          </a:p>
        </p:txBody>
      </p:sp>
    </p:spTree>
    <p:extLst>
      <p:ext uri="{BB962C8B-B14F-4D97-AF65-F5344CB8AC3E}">
        <p14:creationId xmlns:p14="http://schemas.microsoft.com/office/powerpoint/2010/main" val="1322075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B79C84-8903-2C71-38AD-869DEFBD726D}"/>
              </a:ext>
            </a:extLst>
          </p:cNvPr>
          <p:cNvSpPr txBox="1"/>
          <p:nvPr/>
        </p:nvSpPr>
        <p:spPr>
          <a:xfrm>
            <a:off x="3637396" y="222590"/>
            <a:ext cx="4072380" cy="584775"/>
          </a:xfrm>
          <a:prstGeom prst="rect">
            <a:avLst/>
          </a:prstGeom>
          <a:noFill/>
          <a:ln>
            <a:noFill/>
          </a:ln>
          <a:effectLst/>
        </p:spPr>
        <p:txBody>
          <a:bodyPr wrap="square" rtlCol="0">
            <a:spAutoFit/>
          </a:bodyPr>
          <a:lstStyle/>
          <a:p>
            <a:pPr algn="ctr"/>
            <a:r>
              <a:rPr lang="en-US" sz="3200" b="1" u="sng" dirty="0"/>
              <a:t>Methodology</a:t>
            </a:r>
          </a:p>
        </p:txBody>
      </p:sp>
      <p:sp>
        <p:nvSpPr>
          <p:cNvPr id="4" name="TextBox 3">
            <a:extLst>
              <a:ext uri="{FF2B5EF4-FFF2-40B4-BE49-F238E27FC236}">
                <a16:creationId xmlns:a16="http://schemas.microsoft.com/office/drawing/2014/main" id="{AAAB3792-3497-9302-665D-060363F2629E}"/>
              </a:ext>
            </a:extLst>
          </p:cNvPr>
          <p:cNvSpPr txBox="1"/>
          <p:nvPr/>
        </p:nvSpPr>
        <p:spPr>
          <a:xfrm>
            <a:off x="628650" y="1105767"/>
            <a:ext cx="9753600" cy="1538883"/>
          </a:xfrm>
          <a:prstGeom prst="rect">
            <a:avLst/>
          </a:prstGeom>
          <a:noFill/>
        </p:spPr>
        <p:txBody>
          <a:bodyPr wrap="square">
            <a:spAutoFit/>
          </a:bodyPr>
          <a:lstStyle/>
          <a:p>
            <a:pPr lvl="0"/>
            <a:r>
              <a:rPr lang="en-US" sz="1600" b="1" i="0" dirty="0">
                <a:solidFill>
                  <a:srgbClr val="FF0000"/>
                </a:solidFill>
              </a:rPr>
              <a:t>Data Cleaning</a:t>
            </a:r>
            <a:r>
              <a:rPr lang="en-GB" sz="1600" b="1" i="0" dirty="0">
                <a:solidFill>
                  <a:srgbClr val="FF0000"/>
                </a:solidFill>
              </a:rPr>
              <a:t>:</a:t>
            </a:r>
          </a:p>
          <a:p>
            <a:pPr lvl="0"/>
            <a:endParaRPr lang="en-GB" b="1" dirty="0">
              <a:solidFill>
                <a:srgbClr val="0070C0"/>
              </a:solidFill>
            </a:endParaRPr>
          </a:p>
          <a:p>
            <a:pPr marL="285750" lvl="0" indent="-285750">
              <a:buFont typeface="Arial" panose="020B0604020202020204" pitchFamily="34" charset="0"/>
              <a:buChar char="•"/>
            </a:pPr>
            <a:r>
              <a:rPr lang="en-GB" sz="1500" dirty="0"/>
              <a:t>Handled missing values in the Longitude &amp; Latitude column as well as Cuisines column.</a:t>
            </a:r>
            <a:endParaRPr lang="en-US" sz="1500" dirty="0"/>
          </a:p>
          <a:p>
            <a:pPr marL="285750" lvl="0" indent="-285750">
              <a:buFont typeface="Arial" panose="020B0604020202020204" pitchFamily="34" charset="0"/>
              <a:buChar char="•"/>
            </a:pPr>
            <a:r>
              <a:rPr lang="en-GB" sz="1500" dirty="0"/>
              <a:t>Resolved inconsistencies in Restaurant ID entries</a:t>
            </a:r>
            <a:endParaRPr lang="en-US" sz="1500" dirty="0"/>
          </a:p>
          <a:p>
            <a:pPr marL="285750" lvl="0" indent="-285750">
              <a:buFont typeface="Arial" panose="020B0604020202020204" pitchFamily="34" charset="0"/>
              <a:buChar char="•"/>
            </a:pPr>
            <a:r>
              <a:rPr lang="en-GB" sz="1500" dirty="0"/>
              <a:t>Applied conditional formatting to detect and remove extra spaces</a:t>
            </a:r>
            <a:endParaRPr lang="en-US" sz="1500" dirty="0"/>
          </a:p>
          <a:p>
            <a:pPr marL="285750" lvl="0" indent="-285750">
              <a:buFont typeface="Arial" panose="020B0604020202020204" pitchFamily="34" charset="0"/>
              <a:buChar char="•"/>
            </a:pPr>
            <a:r>
              <a:rPr lang="en-GB" sz="1500" dirty="0"/>
              <a:t>Standardized City column and removed unwanted columns</a:t>
            </a:r>
            <a:endParaRPr lang="en-US" sz="1500" dirty="0"/>
          </a:p>
        </p:txBody>
      </p:sp>
      <p:sp>
        <p:nvSpPr>
          <p:cNvPr id="6" name="TextBox 5">
            <a:extLst>
              <a:ext uri="{FF2B5EF4-FFF2-40B4-BE49-F238E27FC236}">
                <a16:creationId xmlns:a16="http://schemas.microsoft.com/office/drawing/2014/main" id="{08A8A40B-80C4-345D-504C-5D0ABEA21EB1}"/>
              </a:ext>
            </a:extLst>
          </p:cNvPr>
          <p:cNvSpPr txBox="1"/>
          <p:nvPr/>
        </p:nvSpPr>
        <p:spPr>
          <a:xfrm>
            <a:off x="628650" y="3075638"/>
            <a:ext cx="7998914" cy="1338828"/>
          </a:xfrm>
          <a:prstGeom prst="rect">
            <a:avLst/>
          </a:prstGeom>
          <a:noFill/>
        </p:spPr>
        <p:txBody>
          <a:bodyPr wrap="square">
            <a:spAutoFit/>
          </a:bodyPr>
          <a:lstStyle/>
          <a:p>
            <a:pPr lvl="0" algn="l"/>
            <a:r>
              <a:rPr lang="en-US" sz="1600" b="1" i="0" baseline="0" dirty="0">
                <a:solidFill>
                  <a:srgbClr val="FF0000"/>
                </a:solidFill>
              </a:rPr>
              <a:t>Data Preprocessing: </a:t>
            </a:r>
          </a:p>
          <a:p>
            <a:pPr lvl="0" algn="l"/>
            <a:endParaRPr lang="en-US" sz="2000" b="1" i="0" baseline="0" dirty="0">
              <a:solidFill>
                <a:srgbClr val="0070C0"/>
              </a:solidFill>
            </a:endParaRPr>
          </a:p>
          <a:p>
            <a:pPr marL="285750" lvl="0" indent="-285750" algn="l">
              <a:buFont typeface="Arial" panose="020B0604020202020204" pitchFamily="34" charset="0"/>
              <a:buChar char="•"/>
            </a:pPr>
            <a:r>
              <a:rPr lang="en-US" sz="1500" b="0" baseline="0" dirty="0"/>
              <a:t>Enriched data by adding country using VLOOKUP on country code.</a:t>
            </a:r>
          </a:p>
          <a:p>
            <a:pPr marL="285750" lvl="0" indent="-285750" algn="l">
              <a:buFont typeface="Arial" panose="020B0604020202020204" pitchFamily="34" charset="0"/>
              <a:buChar char="•"/>
            </a:pPr>
            <a:r>
              <a:rPr lang="en-US" sz="1500" b="0" baseline="0" dirty="0"/>
              <a:t>Extracted month and year from date key opening using the text function to enable time-based trend analysis</a:t>
            </a:r>
            <a:r>
              <a:rPr lang="en-US" sz="1500" b="0" i="0" baseline="0" dirty="0"/>
              <a:t>.</a:t>
            </a:r>
            <a:endParaRPr lang="en-US" sz="1500" i="0" dirty="0"/>
          </a:p>
        </p:txBody>
      </p:sp>
      <p:sp>
        <p:nvSpPr>
          <p:cNvPr id="8" name="TextBox 7">
            <a:extLst>
              <a:ext uri="{FF2B5EF4-FFF2-40B4-BE49-F238E27FC236}">
                <a16:creationId xmlns:a16="http://schemas.microsoft.com/office/drawing/2014/main" id="{CAAADE51-5F7E-F9F2-A7E3-EFD7CEBE015D}"/>
              </a:ext>
            </a:extLst>
          </p:cNvPr>
          <p:cNvSpPr txBox="1"/>
          <p:nvPr/>
        </p:nvSpPr>
        <p:spPr>
          <a:xfrm>
            <a:off x="628650" y="4648053"/>
            <a:ext cx="9753600" cy="1154162"/>
          </a:xfrm>
          <a:prstGeom prst="rect">
            <a:avLst/>
          </a:prstGeom>
          <a:noFill/>
        </p:spPr>
        <p:txBody>
          <a:bodyPr wrap="square">
            <a:spAutoFit/>
          </a:bodyPr>
          <a:lstStyle/>
          <a:p>
            <a:r>
              <a:rPr lang="en-US" sz="1600" b="1" i="0" dirty="0">
                <a:solidFill>
                  <a:srgbClr val="FF0000"/>
                </a:solidFill>
              </a:rPr>
              <a:t>Data Analysis Tools: </a:t>
            </a:r>
          </a:p>
          <a:p>
            <a:endParaRPr lang="en-US" sz="1800" b="1" i="0" dirty="0">
              <a:solidFill>
                <a:srgbClr val="0070C0"/>
              </a:solidFill>
            </a:endParaRPr>
          </a:p>
          <a:p>
            <a:pPr marL="285750" indent="-285750">
              <a:buFont typeface="Arial" panose="020B0604020202020204" pitchFamily="34" charset="0"/>
              <a:buChar char="•"/>
            </a:pPr>
            <a:r>
              <a:rPr lang="en-US" sz="1500" dirty="0"/>
              <a:t>Used pivot tables and pivot charts for dynamic summarization and visualization, enabling clear and actionable insights.</a:t>
            </a:r>
          </a:p>
          <a:p>
            <a:pPr lvl="0"/>
            <a:endParaRPr lang="en-US" sz="1800" i="0" dirty="0"/>
          </a:p>
        </p:txBody>
      </p:sp>
      <p:pic>
        <p:nvPicPr>
          <p:cNvPr id="3" name="Picture 2" descr="Why Data Cleaning in Excel is Crucial for Accurate Analysis?">
            <a:extLst>
              <a:ext uri="{FF2B5EF4-FFF2-40B4-BE49-F238E27FC236}">
                <a16:creationId xmlns:a16="http://schemas.microsoft.com/office/drawing/2014/main" id="{45C3DEC9-2FEC-430A-E06A-1CC07DAA22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27564" y="134178"/>
            <a:ext cx="3417925" cy="5098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074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06C267-992F-9193-351E-6BA50C2D9ACD}"/>
              </a:ext>
            </a:extLst>
          </p:cNvPr>
          <p:cNvSpPr txBox="1"/>
          <p:nvPr/>
        </p:nvSpPr>
        <p:spPr>
          <a:xfrm>
            <a:off x="245525" y="258417"/>
            <a:ext cx="7786540" cy="584775"/>
          </a:xfrm>
          <a:prstGeom prst="rect">
            <a:avLst/>
          </a:prstGeom>
          <a:noFill/>
        </p:spPr>
        <p:txBody>
          <a:bodyPr wrap="square" rtlCol="0">
            <a:spAutoFit/>
          </a:bodyPr>
          <a:lstStyle/>
          <a:p>
            <a:pPr algn="r"/>
            <a:r>
              <a:rPr lang="en-IN" sz="3200" b="1" u="sng" dirty="0">
                <a:cs typeface="Arial" panose="020B0604020202020204" pitchFamily="34" charset="0"/>
              </a:rPr>
              <a:t>Key Metrics And Visualization</a:t>
            </a:r>
            <a:endParaRPr lang="en-US" sz="3200" b="1" u="sng" dirty="0"/>
          </a:p>
        </p:txBody>
      </p:sp>
      <p:sp>
        <p:nvSpPr>
          <p:cNvPr id="3" name="TextBox 2">
            <a:extLst>
              <a:ext uri="{FF2B5EF4-FFF2-40B4-BE49-F238E27FC236}">
                <a16:creationId xmlns:a16="http://schemas.microsoft.com/office/drawing/2014/main" id="{52208C3B-2C9D-8A35-8EC7-46AEA15F7B6A}"/>
              </a:ext>
            </a:extLst>
          </p:cNvPr>
          <p:cNvSpPr txBox="1"/>
          <p:nvPr/>
        </p:nvSpPr>
        <p:spPr>
          <a:xfrm>
            <a:off x="393723" y="1152869"/>
            <a:ext cx="5373277" cy="2031325"/>
          </a:xfrm>
          <a:prstGeom prst="rect">
            <a:avLst/>
          </a:prstGeom>
          <a:noFill/>
        </p:spPr>
        <p:txBody>
          <a:bodyPr wrap="square" rtlCol="0">
            <a:spAutoFit/>
          </a:bodyPr>
          <a:lstStyle/>
          <a:p>
            <a:r>
              <a:rPr lang="en-GB" b="1" dirty="0">
                <a:solidFill>
                  <a:srgbClr val="FF0000"/>
                </a:solidFill>
              </a:rPr>
              <a:t>No of Restaurant opened each year:</a:t>
            </a:r>
          </a:p>
          <a:p>
            <a:pPr marL="285750" indent="-285750">
              <a:buFont typeface="Arial" panose="020B0604020202020204" pitchFamily="34" charset="0"/>
              <a:buChar char="•"/>
            </a:pPr>
            <a:endParaRPr lang="en-GB" b="1" i="1" dirty="0"/>
          </a:p>
          <a:p>
            <a:pPr marL="285750" indent="-285750">
              <a:buFont typeface="Arial" panose="020B0604020202020204" pitchFamily="34" charset="0"/>
              <a:buChar char="•"/>
            </a:pPr>
            <a:r>
              <a:rPr lang="en-US" sz="1500" dirty="0"/>
              <a:t>Presented a comparative analysis of consumer involvement by evaluating the number of restaurants that open yearly. </a:t>
            </a:r>
          </a:p>
          <a:p>
            <a:pPr marL="285750" indent="-285750">
              <a:buFont typeface="Arial" panose="020B0604020202020204" pitchFamily="34" charset="0"/>
              <a:buChar char="•"/>
            </a:pPr>
            <a:r>
              <a:rPr lang="en-US" sz="1500" dirty="0"/>
              <a:t>A year with large number of restaurants indicates more consumer involvement.</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Example from Chart: Year 2011, 2017 and 2018</a:t>
            </a:r>
          </a:p>
        </p:txBody>
      </p:sp>
      <p:graphicFrame>
        <p:nvGraphicFramePr>
          <p:cNvPr id="4" name="Chart 3">
            <a:extLst>
              <a:ext uri="{FF2B5EF4-FFF2-40B4-BE49-F238E27FC236}">
                <a16:creationId xmlns:a16="http://schemas.microsoft.com/office/drawing/2014/main" id="{BCC2AEA0-8C25-3D08-4487-3917627F2630}"/>
              </a:ext>
            </a:extLst>
          </p:cNvPr>
          <p:cNvGraphicFramePr>
            <a:graphicFrameLocks/>
          </p:cNvGraphicFramePr>
          <p:nvPr>
            <p:extLst>
              <p:ext uri="{D42A27DB-BD31-4B8C-83A1-F6EECF244321}">
                <p14:modId xmlns:p14="http://schemas.microsoft.com/office/powerpoint/2010/main" val="2176725454"/>
              </p:ext>
            </p:extLst>
          </p:nvPr>
        </p:nvGraphicFramePr>
        <p:xfrm>
          <a:off x="6096000" y="1013792"/>
          <a:ext cx="5932604" cy="55162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29617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B0EC5C-DC10-4976-B5FA-51F717204D1F}"/>
              </a:ext>
            </a:extLst>
          </p:cNvPr>
          <p:cNvSpPr txBox="1"/>
          <p:nvPr/>
        </p:nvSpPr>
        <p:spPr>
          <a:xfrm>
            <a:off x="638175" y="249436"/>
            <a:ext cx="10915650" cy="1369606"/>
          </a:xfrm>
          <a:prstGeom prst="rect">
            <a:avLst/>
          </a:prstGeom>
          <a:noFill/>
        </p:spPr>
        <p:txBody>
          <a:bodyPr wrap="square">
            <a:spAutoFit/>
          </a:bodyPr>
          <a:lstStyle/>
          <a:p>
            <a:r>
              <a:rPr lang="en-GB" b="1" dirty="0">
                <a:solidFill>
                  <a:srgbClr val="FF0000"/>
                </a:solidFill>
              </a:rPr>
              <a:t>Average no. of Voters in each Country:</a:t>
            </a:r>
          </a:p>
          <a:p>
            <a:pPr marL="342900" indent="-342900">
              <a:buFont typeface="Arial" panose="020B0604020202020204" pitchFamily="34" charset="0"/>
              <a:buChar char="•"/>
            </a:pPr>
            <a:endParaRPr lang="en-GB" sz="2000" dirty="0"/>
          </a:p>
          <a:p>
            <a:pPr marL="285750" indent="-285750">
              <a:buFont typeface="Arial" panose="020B0604020202020204" pitchFamily="34" charset="0"/>
              <a:buChar char="•"/>
            </a:pPr>
            <a:r>
              <a:rPr lang="en-GB" sz="1500" dirty="0"/>
              <a:t>I calculated the average number of voters per restaurant by country to provide a comparative analysis of customer participation. </a:t>
            </a:r>
          </a:p>
          <a:p>
            <a:pPr marL="285750" indent="-285750">
              <a:buFont typeface="Arial" panose="020B0604020202020204" pitchFamily="34" charset="0"/>
              <a:buChar char="•"/>
            </a:pPr>
            <a:r>
              <a:rPr lang="en-GB" sz="1500" dirty="0"/>
              <a:t>A country with significant proportion of voters indicates more interaction with customers.</a:t>
            </a:r>
          </a:p>
          <a:p>
            <a:pPr marL="285750" indent="-285750">
              <a:buFont typeface="Arial" panose="020B0604020202020204" pitchFamily="34" charset="0"/>
              <a:buChar char="•"/>
            </a:pPr>
            <a:r>
              <a:rPr lang="en-GB" sz="1500" dirty="0"/>
              <a:t>Example from Chart: Indonesia, UAE, Turkey</a:t>
            </a:r>
          </a:p>
        </p:txBody>
      </p:sp>
      <p:graphicFrame>
        <p:nvGraphicFramePr>
          <p:cNvPr id="2" name="Chart 1">
            <a:extLst>
              <a:ext uri="{FF2B5EF4-FFF2-40B4-BE49-F238E27FC236}">
                <a16:creationId xmlns:a16="http://schemas.microsoft.com/office/drawing/2014/main" id="{8B40D7C5-2C76-043A-93F1-BB6091F39B59}"/>
              </a:ext>
            </a:extLst>
          </p:cNvPr>
          <p:cNvGraphicFramePr>
            <a:graphicFrameLocks/>
          </p:cNvGraphicFramePr>
          <p:nvPr>
            <p:extLst>
              <p:ext uri="{D42A27DB-BD31-4B8C-83A1-F6EECF244321}">
                <p14:modId xmlns:p14="http://schemas.microsoft.com/office/powerpoint/2010/main" val="2960638760"/>
              </p:ext>
            </p:extLst>
          </p:nvPr>
        </p:nvGraphicFramePr>
        <p:xfrm>
          <a:off x="1381539" y="2300909"/>
          <a:ext cx="9608958" cy="39937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5341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A446227-6716-B98A-2A6C-1344D76485FA}"/>
              </a:ext>
            </a:extLst>
          </p:cNvPr>
          <p:cNvSpPr txBox="1"/>
          <p:nvPr/>
        </p:nvSpPr>
        <p:spPr>
          <a:xfrm>
            <a:off x="652244" y="236448"/>
            <a:ext cx="9096375" cy="1384995"/>
          </a:xfrm>
          <a:prstGeom prst="rect">
            <a:avLst/>
          </a:prstGeom>
          <a:noFill/>
        </p:spPr>
        <p:txBody>
          <a:bodyPr wrap="square">
            <a:spAutoFit/>
          </a:bodyPr>
          <a:lstStyle/>
          <a:p>
            <a:r>
              <a:rPr lang="en-US" b="1" dirty="0">
                <a:solidFill>
                  <a:srgbClr val="FF0000"/>
                </a:solidFill>
              </a:rPr>
              <a:t>Count Of Restaurants:</a:t>
            </a:r>
          </a:p>
          <a:p>
            <a:endParaRPr lang="en-US" b="1" i="1" dirty="0">
              <a:solidFill>
                <a:srgbClr val="7030A0"/>
              </a:solidFill>
            </a:endParaRPr>
          </a:p>
          <a:p>
            <a:pPr marL="285750" indent="-285750">
              <a:buFont typeface="Arial" panose="020B0604020202020204" pitchFamily="34" charset="0"/>
              <a:buChar char="•"/>
            </a:pPr>
            <a:r>
              <a:rPr lang="en-US" sz="1500" dirty="0"/>
              <a:t>Calculated the total number of restaurants per country visualizing these insights through intuitive charts for better Strategic Decision Making.</a:t>
            </a:r>
          </a:p>
          <a:p>
            <a:pPr marL="285750" indent="-285750">
              <a:buFont typeface="Arial" panose="020B0604020202020204" pitchFamily="34" charset="0"/>
              <a:buChar char="•"/>
            </a:pPr>
            <a:r>
              <a:rPr lang="en-US" sz="1500" dirty="0"/>
              <a:t>It will be very advisable to open up the new restaurants. Like- Brazil, Sri Lanka, Canada, Australia…</a:t>
            </a:r>
          </a:p>
        </p:txBody>
      </p:sp>
      <p:graphicFrame>
        <p:nvGraphicFramePr>
          <p:cNvPr id="2" name="Chart 1">
            <a:extLst>
              <a:ext uri="{FF2B5EF4-FFF2-40B4-BE49-F238E27FC236}">
                <a16:creationId xmlns:a16="http://schemas.microsoft.com/office/drawing/2014/main" id="{6550DD69-3F56-D39E-B993-938226F87815}"/>
              </a:ext>
            </a:extLst>
          </p:cNvPr>
          <p:cNvGraphicFramePr>
            <a:graphicFrameLocks/>
          </p:cNvGraphicFramePr>
          <p:nvPr>
            <p:extLst>
              <p:ext uri="{D42A27DB-BD31-4B8C-83A1-F6EECF244321}">
                <p14:modId xmlns:p14="http://schemas.microsoft.com/office/powerpoint/2010/main" val="1009298215"/>
              </p:ext>
            </p:extLst>
          </p:nvPr>
        </p:nvGraphicFramePr>
        <p:xfrm>
          <a:off x="1120877" y="2360543"/>
          <a:ext cx="10188186" cy="382787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58884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DF01F-2801-7D1C-3286-731F6DA43580}"/>
              </a:ext>
            </a:extLst>
          </p:cNvPr>
          <p:cNvSpPr txBox="1"/>
          <p:nvPr/>
        </p:nvSpPr>
        <p:spPr>
          <a:xfrm>
            <a:off x="657225" y="238438"/>
            <a:ext cx="10357175" cy="1292662"/>
          </a:xfrm>
          <a:prstGeom prst="rect">
            <a:avLst/>
          </a:prstGeom>
          <a:noFill/>
        </p:spPr>
        <p:txBody>
          <a:bodyPr wrap="square">
            <a:spAutoFit/>
          </a:bodyPr>
          <a:lstStyle/>
          <a:p>
            <a:r>
              <a:rPr lang="en-GB" b="1" dirty="0">
                <a:solidFill>
                  <a:srgbClr val="FF0000"/>
                </a:solidFill>
              </a:rPr>
              <a:t>Avg. Rating Of Restaurants In Each Country:</a:t>
            </a:r>
          </a:p>
          <a:p>
            <a:endParaRPr lang="en-GB" sz="1500" dirty="0">
              <a:solidFill>
                <a:srgbClr val="FF0000"/>
              </a:solidFill>
            </a:endParaRPr>
          </a:p>
          <a:p>
            <a:pPr marL="285750" indent="-285750">
              <a:buFont typeface="Arial" panose="020B0604020202020204" pitchFamily="34" charset="0"/>
              <a:buChar char="•"/>
            </a:pPr>
            <a:r>
              <a:rPr lang="en-GB" sz="1500" dirty="0"/>
              <a:t>It is crucial to understand ratings of restaurants in order to develop marketing plans and assess performance.</a:t>
            </a:r>
          </a:p>
          <a:p>
            <a:pPr marL="285750" indent="-285750">
              <a:buFont typeface="Arial" panose="020B0604020202020204" pitchFamily="34" charset="0"/>
              <a:buChar char="•"/>
            </a:pPr>
            <a:r>
              <a:rPr lang="en-GB" sz="1500" dirty="0"/>
              <a:t>High rating:</a:t>
            </a:r>
            <a:r>
              <a:rPr lang="en-GB" sz="1500" b="1" i="1" dirty="0"/>
              <a:t> </a:t>
            </a:r>
            <a:r>
              <a:rPr lang="en-GB" sz="1500" dirty="0"/>
              <a:t>Philippines, Turkey [These countries face major market demands] </a:t>
            </a:r>
          </a:p>
          <a:p>
            <a:pPr marL="285750" indent="-285750">
              <a:buFont typeface="Arial" panose="020B0604020202020204" pitchFamily="34" charset="0"/>
              <a:buChar char="•"/>
            </a:pPr>
            <a:r>
              <a:rPr lang="en-GB" sz="1500" dirty="0"/>
              <a:t>Low rating: Canada, Singapore [Improvements must be made]</a:t>
            </a:r>
            <a:endParaRPr lang="en-GB" sz="1500" b="1" i="1" dirty="0"/>
          </a:p>
        </p:txBody>
      </p:sp>
      <p:graphicFrame>
        <p:nvGraphicFramePr>
          <p:cNvPr id="2" name="Chart 1">
            <a:extLst>
              <a:ext uri="{FF2B5EF4-FFF2-40B4-BE49-F238E27FC236}">
                <a16:creationId xmlns:a16="http://schemas.microsoft.com/office/drawing/2014/main" id="{CE725F12-C1ED-6407-3A30-B7561169D0F1}"/>
              </a:ext>
            </a:extLst>
          </p:cNvPr>
          <p:cNvGraphicFramePr>
            <a:graphicFrameLocks/>
          </p:cNvGraphicFramePr>
          <p:nvPr>
            <p:extLst>
              <p:ext uri="{D42A27DB-BD31-4B8C-83A1-F6EECF244321}">
                <p14:modId xmlns:p14="http://schemas.microsoft.com/office/powerpoint/2010/main" val="3212872644"/>
              </p:ext>
            </p:extLst>
          </p:nvPr>
        </p:nvGraphicFramePr>
        <p:xfrm>
          <a:off x="1028700" y="2196548"/>
          <a:ext cx="9640956" cy="40998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77491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C0A1E96-16F5-4184-784A-2F05D6DC782F}"/>
              </a:ext>
            </a:extLst>
          </p:cNvPr>
          <p:cNvSpPr txBox="1"/>
          <p:nvPr/>
        </p:nvSpPr>
        <p:spPr>
          <a:xfrm>
            <a:off x="667151" y="250723"/>
            <a:ext cx="10469632" cy="1569660"/>
          </a:xfrm>
          <a:prstGeom prst="rect">
            <a:avLst/>
          </a:prstGeom>
          <a:noFill/>
        </p:spPr>
        <p:txBody>
          <a:bodyPr wrap="square">
            <a:spAutoFit/>
          </a:bodyPr>
          <a:lstStyle/>
          <a:p>
            <a:r>
              <a:rPr lang="en-GB" b="1" dirty="0">
                <a:solidFill>
                  <a:srgbClr val="FF0000"/>
                </a:solidFill>
              </a:rPr>
              <a:t>Recommended Cities:</a:t>
            </a:r>
          </a:p>
          <a:p>
            <a:endParaRPr lang="en-GB" b="1" dirty="0">
              <a:solidFill>
                <a:srgbClr val="FF0000"/>
              </a:solidFill>
            </a:endParaRPr>
          </a:p>
          <a:p>
            <a:pPr marL="285750" indent="-285750">
              <a:buFont typeface="Arial" panose="020B0604020202020204" pitchFamily="34" charset="0"/>
              <a:buChar char="•"/>
            </a:pPr>
            <a:r>
              <a:rPr lang="en-US" sz="1500" dirty="0"/>
              <a:t>Cities like Yorkton, Consort from Canada. </a:t>
            </a:r>
          </a:p>
          <a:p>
            <a:pPr marL="285750" indent="-285750">
              <a:buFont typeface="Arial" panose="020B0604020202020204" pitchFamily="34" charset="0"/>
              <a:buChar char="•"/>
            </a:pPr>
            <a:r>
              <a:rPr lang="en-US" sz="1500" dirty="0"/>
              <a:t>And city Colombo from Sri Lanka, and city Singapore can be considered as chosen cities for opening restaurants, as the rating is low but has an online delivery option available with lesser count of restaurants</a:t>
            </a:r>
            <a:r>
              <a:rPr lang="en-GB" sz="1500" b="1" i="1" dirty="0">
                <a:solidFill>
                  <a:srgbClr val="7030A0"/>
                </a:solidFill>
              </a:rPr>
              <a:t>.</a:t>
            </a:r>
          </a:p>
          <a:p>
            <a:pPr marL="285750" indent="-285750">
              <a:buFont typeface="Arial" panose="020B0604020202020204" pitchFamily="34" charset="0"/>
              <a:buChar char="•"/>
            </a:pPr>
            <a:r>
              <a:rPr lang="en-US" sz="1500" dirty="0"/>
              <a:t>Cities like Flaxton, Macedon, Penola and some others, which can be selected from Australia. </a:t>
            </a:r>
          </a:p>
        </p:txBody>
      </p:sp>
      <p:graphicFrame>
        <p:nvGraphicFramePr>
          <p:cNvPr id="2" name="Chart 1">
            <a:extLst>
              <a:ext uri="{FF2B5EF4-FFF2-40B4-BE49-F238E27FC236}">
                <a16:creationId xmlns:a16="http://schemas.microsoft.com/office/drawing/2014/main" id="{5DAC341C-B39E-2E91-134C-F726938AF46E}"/>
              </a:ext>
            </a:extLst>
          </p:cNvPr>
          <p:cNvGraphicFramePr/>
          <p:nvPr>
            <p:extLst>
              <p:ext uri="{D42A27DB-BD31-4B8C-83A1-F6EECF244321}">
                <p14:modId xmlns:p14="http://schemas.microsoft.com/office/powerpoint/2010/main" val="3365548620"/>
              </p:ext>
            </p:extLst>
          </p:nvPr>
        </p:nvGraphicFramePr>
        <p:xfrm>
          <a:off x="1485900" y="2107565"/>
          <a:ext cx="9049578" cy="39105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58588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8AFF35-A1BA-7507-1755-DFCC08F9B0D6}"/>
              </a:ext>
            </a:extLst>
          </p:cNvPr>
          <p:cNvSpPr txBox="1"/>
          <p:nvPr/>
        </p:nvSpPr>
        <p:spPr>
          <a:xfrm>
            <a:off x="658009" y="236294"/>
            <a:ext cx="9974737" cy="1738938"/>
          </a:xfrm>
          <a:prstGeom prst="rect">
            <a:avLst/>
          </a:prstGeom>
          <a:noFill/>
        </p:spPr>
        <p:txBody>
          <a:bodyPr wrap="square">
            <a:spAutoFit/>
          </a:bodyPr>
          <a:lstStyle/>
          <a:p>
            <a:r>
              <a:rPr lang="en-GB" b="1" dirty="0">
                <a:solidFill>
                  <a:srgbClr val="FF0000"/>
                </a:solidFill>
              </a:rPr>
              <a:t>Analysis of Cuisine over Rating:</a:t>
            </a:r>
          </a:p>
          <a:p>
            <a:endParaRPr lang="en-GB" sz="1400" dirty="0"/>
          </a:p>
          <a:p>
            <a:pPr marL="285750" indent="-285750">
              <a:buFont typeface="Arial" panose="020B0604020202020204" pitchFamily="34" charset="0"/>
              <a:buChar char="•"/>
            </a:pPr>
            <a:r>
              <a:rPr lang="en-GB" sz="1500" dirty="0"/>
              <a:t>Normally the cuisines with the highest avg. ratings like Brazil, Canada, Australia and Indonesia received most of the grand ratings overall.</a:t>
            </a:r>
          </a:p>
          <a:p>
            <a:pPr marL="285750" indent="-285750">
              <a:buFont typeface="Arial" panose="020B0604020202020204" pitchFamily="34" charset="0"/>
              <a:buChar char="•"/>
            </a:pPr>
            <a:r>
              <a:rPr lang="en-GB" sz="1500" dirty="0"/>
              <a:t>Consequently, it was recommended to select cuisines with a rating which is &lt;=3.5. The cuisine of restaurants with high ratings like &gt;=4.5 is more inclines to change. </a:t>
            </a:r>
          </a:p>
          <a:p>
            <a:pPr marL="285750" indent="-285750">
              <a:buFont typeface="Arial" panose="020B0604020202020204" pitchFamily="34" charset="0"/>
              <a:buChar char="•"/>
            </a:pPr>
            <a:r>
              <a:rPr lang="en-GB" sz="1500" dirty="0"/>
              <a:t>A rating of 4 is more consistent and trustworthy.</a:t>
            </a:r>
          </a:p>
        </p:txBody>
      </p:sp>
      <p:graphicFrame>
        <p:nvGraphicFramePr>
          <p:cNvPr id="2" name="Chart 1">
            <a:extLst>
              <a:ext uri="{FF2B5EF4-FFF2-40B4-BE49-F238E27FC236}">
                <a16:creationId xmlns:a16="http://schemas.microsoft.com/office/drawing/2014/main" id="{D260A282-E53B-4BBA-B44A-5ECC208082DD}"/>
              </a:ext>
            </a:extLst>
          </p:cNvPr>
          <p:cNvGraphicFramePr>
            <a:graphicFrameLocks/>
          </p:cNvGraphicFramePr>
          <p:nvPr>
            <p:extLst>
              <p:ext uri="{D42A27DB-BD31-4B8C-83A1-F6EECF244321}">
                <p14:modId xmlns:p14="http://schemas.microsoft.com/office/powerpoint/2010/main" val="35079710"/>
              </p:ext>
            </p:extLst>
          </p:nvPr>
        </p:nvGraphicFramePr>
        <p:xfrm>
          <a:off x="1192696" y="2231335"/>
          <a:ext cx="9929191" cy="39966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75330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976078-06F4-CB14-8816-8B9911181DFA}"/>
              </a:ext>
            </a:extLst>
          </p:cNvPr>
          <p:cNvSpPr txBox="1"/>
          <p:nvPr/>
        </p:nvSpPr>
        <p:spPr>
          <a:xfrm>
            <a:off x="-154057" y="232753"/>
            <a:ext cx="3395663" cy="369332"/>
          </a:xfrm>
          <a:prstGeom prst="rect">
            <a:avLst/>
          </a:prstGeom>
          <a:noFill/>
        </p:spPr>
        <p:txBody>
          <a:bodyPr wrap="square">
            <a:spAutoFit/>
          </a:bodyPr>
          <a:lstStyle/>
          <a:p>
            <a:pPr algn="ctr" rtl="0">
              <a:defRPr sz="1400" b="0" i="0" u="none" strike="noStrike" kern="1200" spc="0" baseline="0">
                <a:solidFill>
                  <a:prstClr val="black">
                    <a:lumMod val="65000"/>
                    <a:lumOff val="35000"/>
                  </a:prstClr>
                </a:solidFill>
                <a:latin typeface="+mn-lt"/>
                <a:ea typeface="+mn-ea"/>
                <a:cs typeface="+mn-cs"/>
              </a:defRPr>
            </a:pPr>
            <a:r>
              <a:rPr lang="en-US" sz="1800" b="1" dirty="0">
                <a:solidFill>
                  <a:srgbClr val="FF0000"/>
                </a:solidFill>
              </a:rPr>
              <a:t>Top five cuisines:</a:t>
            </a:r>
          </a:p>
        </p:txBody>
      </p:sp>
      <p:graphicFrame>
        <p:nvGraphicFramePr>
          <p:cNvPr id="2" name="Chart 1">
            <a:extLst>
              <a:ext uri="{FF2B5EF4-FFF2-40B4-BE49-F238E27FC236}">
                <a16:creationId xmlns:a16="http://schemas.microsoft.com/office/drawing/2014/main" id="{57F7248A-3230-5FB5-7257-86D3374F21BD}"/>
              </a:ext>
            </a:extLst>
          </p:cNvPr>
          <p:cNvGraphicFramePr>
            <a:graphicFrameLocks/>
          </p:cNvGraphicFramePr>
          <p:nvPr>
            <p:extLst>
              <p:ext uri="{D42A27DB-BD31-4B8C-83A1-F6EECF244321}">
                <p14:modId xmlns:p14="http://schemas.microsoft.com/office/powerpoint/2010/main" val="1978617906"/>
              </p:ext>
            </p:extLst>
          </p:nvPr>
        </p:nvGraphicFramePr>
        <p:xfrm>
          <a:off x="1474839" y="837708"/>
          <a:ext cx="9362276" cy="54451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739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A44A6-2AF4-2CBA-B6CA-86677548A45E}"/>
              </a:ext>
            </a:extLst>
          </p:cNvPr>
          <p:cNvSpPr txBox="1"/>
          <p:nvPr/>
        </p:nvSpPr>
        <p:spPr>
          <a:xfrm>
            <a:off x="601111" y="250289"/>
            <a:ext cx="10620375" cy="1569660"/>
          </a:xfrm>
          <a:prstGeom prst="rect">
            <a:avLst/>
          </a:prstGeom>
          <a:noFill/>
        </p:spPr>
        <p:txBody>
          <a:bodyPr wrap="square">
            <a:spAutoFit/>
          </a:bodyPr>
          <a:lstStyle/>
          <a:p>
            <a:r>
              <a:rPr lang="en-US" sz="1500" dirty="0"/>
              <a:t> </a:t>
            </a:r>
            <a:r>
              <a:rPr lang="en-US" b="1" dirty="0">
                <a:solidFill>
                  <a:srgbClr val="FF0000"/>
                </a:solidFill>
              </a:rPr>
              <a:t>Country-wise Cost vs Rating:</a:t>
            </a:r>
          </a:p>
          <a:p>
            <a:endParaRPr lang="en-US" dirty="0"/>
          </a:p>
          <a:p>
            <a:pPr>
              <a:buFont typeface="Arial" panose="020B0604020202020204" pitchFamily="34" charset="0"/>
              <a:buChar char="•"/>
            </a:pPr>
            <a:r>
              <a:rPr lang="en-US" sz="1500" dirty="0"/>
              <a:t>Singapore has the highest average cost (~₹13,362) with a strong average rating (4.1).</a:t>
            </a:r>
          </a:p>
          <a:p>
            <a:pPr>
              <a:buFont typeface="Arial" panose="020B0604020202020204" pitchFamily="34" charset="0"/>
              <a:buChar char="•"/>
            </a:pPr>
            <a:r>
              <a:rPr lang="en-US" sz="1500" dirty="0"/>
              <a:t> New Zealand and Qatar show a balance of high cost (~₹10K) and high rating (4.3–4.5).</a:t>
            </a:r>
          </a:p>
          <a:p>
            <a:pPr>
              <a:buFont typeface="Arial" panose="020B0604020202020204" pitchFamily="34" charset="0"/>
              <a:buChar char="•"/>
            </a:pPr>
            <a:r>
              <a:rPr lang="en-US" sz="1500" dirty="0"/>
              <a:t> India and Sri Lanka have the lowest average costs (~₹623 and ₹594), yet India’s average rating is relatively low (2.8), while Sri Lanka maintains a strong 4.3.</a:t>
            </a:r>
          </a:p>
        </p:txBody>
      </p:sp>
      <p:graphicFrame>
        <p:nvGraphicFramePr>
          <p:cNvPr id="2" name="Chart 1">
            <a:extLst>
              <a:ext uri="{FF2B5EF4-FFF2-40B4-BE49-F238E27FC236}">
                <a16:creationId xmlns:a16="http://schemas.microsoft.com/office/drawing/2014/main" id="{2B0E2157-44F6-6CD5-1D2D-22E324EE2175}"/>
              </a:ext>
            </a:extLst>
          </p:cNvPr>
          <p:cNvGraphicFramePr>
            <a:graphicFrameLocks/>
          </p:cNvGraphicFramePr>
          <p:nvPr>
            <p:extLst>
              <p:ext uri="{D42A27DB-BD31-4B8C-83A1-F6EECF244321}">
                <p14:modId xmlns:p14="http://schemas.microsoft.com/office/powerpoint/2010/main" val="3218353446"/>
              </p:ext>
            </p:extLst>
          </p:nvPr>
        </p:nvGraphicFramePr>
        <p:xfrm>
          <a:off x="998884" y="2231335"/>
          <a:ext cx="9824830" cy="38911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3030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A3EC10-F2A4-BDCA-768E-FFA150660231}"/>
              </a:ext>
            </a:extLst>
          </p:cNvPr>
          <p:cNvSpPr txBox="1"/>
          <p:nvPr/>
        </p:nvSpPr>
        <p:spPr>
          <a:xfrm>
            <a:off x="651838" y="243083"/>
            <a:ext cx="6096000" cy="369332"/>
          </a:xfrm>
          <a:prstGeom prst="rect">
            <a:avLst/>
          </a:prstGeom>
          <a:noFill/>
        </p:spPr>
        <p:txBody>
          <a:bodyPr wrap="square">
            <a:spAutoFit/>
          </a:bodyPr>
          <a:lstStyle/>
          <a:p>
            <a:r>
              <a:rPr lang="en-GB" sz="1800" b="1" dirty="0">
                <a:solidFill>
                  <a:srgbClr val="FF0000"/>
                </a:solidFill>
              </a:rPr>
              <a:t>Analysis of Table Booking &amp; Delivery:</a:t>
            </a:r>
          </a:p>
        </p:txBody>
      </p:sp>
      <p:sp>
        <p:nvSpPr>
          <p:cNvPr id="10" name="TextBox 9">
            <a:extLst>
              <a:ext uri="{FF2B5EF4-FFF2-40B4-BE49-F238E27FC236}">
                <a16:creationId xmlns:a16="http://schemas.microsoft.com/office/drawing/2014/main" id="{9F54B095-A265-4B1C-BAD7-6364D1D7E291}"/>
              </a:ext>
            </a:extLst>
          </p:cNvPr>
          <p:cNvSpPr txBox="1"/>
          <p:nvPr/>
        </p:nvSpPr>
        <p:spPr>
          <a:xfrm>
            <a:off x="790574" y="906958"/>
            <a:ext cx="9915525" cy="784830"/>
          </a:xfrm>
          <a:prstGeom prst="rect">
            <a:avLst/>
          </a:prstGeom>
          <a:noFill/>
        </p:spPr>
        <p:txBody>
          <a:bodyPr wrap="square">
            <a:spAutoFit/>
          </a:bodyPr>
          <a:lstStyle/>
          <a:p>
            <a:pPr marL="285750" indent="-285750">
              <a:buFont typeface="Arial" panose="020B0604020202020204" pitchFamily="34" charset="0"/>
              <a:buChar char="•"/>
            </a:pPr>
            <a:r>
              <a:rPr lang="en-US" sz="1500" dirty="0"/>
              <a:t>Used doughnut charts to show the distribution of booking and delivery options, providing clear insight into service availability.</a:t>
            </a:r>
          </a:p>
          <a:p>
            <a:pPr marL="285750" indent="-285750">
              <a:buFont typeface="Arial" panose="020B0604020202020204" pitchFamily="34" charset="0"/>
              <a:buChar char="•"/>
            </a:pPr>
            <a:r>
              <a:rPr lang="en-US" sz="1500" dirty="0"/>
              <a:t>New restaurants should offer at least table booking or online delivery—ideally both—to improve ratings.</a:t>
            </a:r>
          </a:p>
        </p:txBody>
      </p:sp>
      <p:graphicFrame>
        <p:nvGraphicFramePr>
          <p:cNvPr id="2" name="Chart 1">
            <a:extLst>
              <a:ext uri="{FF2B5EF4-FFF2-40B4-BE49-F238E27FC236}">
                <a16:creationId xmlns:a16="http://schemas.microsoft.com/office/drawing/2014/main" id="{3A74F0FD-93B9-A347-C4CD-0C38210A850C}"/>
              </a:ext>
            </a:extLst>
          </p:cNvPr>
          <p:cNvGraphicFramePr/>
          <p:nvPr>
            <p:extLst>
              <p:ext uri="{D42A27DB-BD31-4B8C-83A1-F6EECF244321}">
                <p14:modId xmlns:p14="http://schemas.microsoft.com/office/powerpoint/2010/main" val="267112393"/>
              </p:ext>
            </p:extLst>
          </p:nvPr>
        </p:nvGraphicFramePr>
        <p:xfrm>
          <a:off x="1337423" y="2564702"/>
          <a:ext cx="4166675" cy="31163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6D9DB8C0-B2C9-6771-ECF7-8A23C0FBB51A}"/>
              </a:ext>
            </a:extLst>
          </p:cNvPr>
          <p:cNvGraphicFramePr/>
          <p:nvPr>
            <p:extLst>
              <p:ext uri="{D42A27DB-BD31-4B8C-83A1-F6EECF244321}">
                <p14:modId xmlns:p14="http://schemas.microsoft.com/office/powerpoint/2010/main" val="1022768385"/>
              </p:ext>
            </p:extLst>
          </p:nvPr>
        </p:nvGraphicFramePr>
        <p:xfrm>
          <a:off x="6413049" y="2564702"/>
          <a:ext cx="4293049" cy="31163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5005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91DFEB-B900-288D-76D1-16BCA2AB293F}"/>
              </a:ext>
            </a:extLst>
          </p:cNvPr>
          <p:cNvSpPr txBox="1"/>
          <p:nvPr/>
        </p:nvSpPr>
        <p:spPr>
          <a:xfrm>
            <a:off x="652130" y="244487"/>
            <a:ext cx="10231755" cy="1338828"/>
          </a:xfrm>
          <a:prstGeom prst="rect">
            <a:avLst/>
          </a:prstGeom>
          <a:noFill/>
        </p:spPr>
        <p:txBody>
          <a:bodyPr wrap="square">
            <a:spAutoFit/>
          </a:bodyPr>
          <a:lstStyle/>
          <a:p>
            <a:r>
              <a:rPr lang="en-GB" b="1" dirty="0">
                <a:solidFill>
                  <a:srgbClr val="FF0000"/>
                </a:solidFill>
              </a:rPr>
              <a:t>Analysis of Food Expenditure:</a:t>
            </a:r>
          </a:p>
          <a:p>
            <a:endParaRPr lang="en-GB" b="1" i="1" dirty="0">
              <a:solidFill>
                <a:srgbClr val="0070C0"/>
              </a:solidFill>
            </a:endParaRPr>
          </a:p>
          <a:p>
            <a:pPr marL="285750" indent="-285750">
              <a:buFont typeface="Arial" panose="020B0604020202020204" pitchFamily="34" charset="0"/>
              <a:buChar char="•"/>
            </a:pPr>
            <a:r>
              <a:rPr lang="en-US" sz="1500" dirty="0"/>
              <a:t>Singapore dominates food spending with over ₹2.6 lakh, accounting for the vast majority of total expenditure.</a:t>
            </a:r>
          </a:p>
          <a:p>
            <a:pPr marL="285750" indent="-285750">
              <a:buFont typeface="Arial" panose="020B0604020202020204" pitchFamily="34" charset="0"/>
              <a:buChar char="•"/>
            </a:pPr>
            <a:r>
              <a:rPr lang="en-US" sz="1500" dirty="0"/>
              <a:t>In contrast, countries like Sri Lanka, Brazil, and Canada contribute marginally, highlighting a significant spending gap across countries.</a:t>
            </a:r>
            <a:endParaRPr lang="en-GB" sz="1500" i="1" dirty="0">
              <a:solidFill>
                <a:srgbClr val="0070C0"/>
              </a:solidFill>
            </a:endParaRPr>
          </a:p>
        </p:txBody>
      </p:sp>
      <p:graphicFrame>
        <p:nvGraphicFramePr>
          <p:cNvPr id="2" name="Chart 1">
            <a:extLst>
              <a:ext uri="{FF2B5EF4-FFF2-40B4-BE49-F238E27FC236}">
                <a16:creationId xmlns:a16="http://schemas.microsoft.com/office/drawing/2014/main" id="{D1C3621E-9EC1-F99B-4FBD-A2E7ECE583B1}"/>
              </a:ext>
            </a:extLst>
          </p:cNvPr>
          <p:cNvGraphicFramePr/>
          <p:nvPr>
            <p:extLst>
              <p:ext uri="{D42A27DB-BD31-4B8C-83A1-F6EECF244321}">
                <p14:modId xmlns:p14="http://schemas.microsoft.com/office/powerpoint/2010/main" val="3462931000"/>
              </p:ext>
            </p:extLst>
          </p:nvPr>
        </p:nvGraphicFramePr>
        <p:xfrm>
          <a:off x="1398147" y="2221864"/>
          <a:ext cx="9669043" cy="43559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9405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D6BDC3-05A0-983B-4A1E-6482DB50F77A}"/>
              </a:ext>
            </a:extLst>
          </p:cNvPr>
          <p:cNvSpPr txBox="1"/>
          <p:nvPr/>
        </p:nvSpPr>
        <p:spPr>
          <a:xfrm>
            <a:off x="552451" y="816768"/>
            <a:ext cx="11239498" cy="1015663"/>
          </a:xfrm>
          <a:prstGeom prst="rect">
            <a:avLst/>
          </a:prstGeom>
          <a:noFill/>
        </p:spPr>
        <p:txBody>
          <a:bodyPr wrap="square">
            <a:spAutoFit/>
          </a:bodyPr>
          <a:lstStyle/>
          <a:p>
            <a:pPr marL="285750" indent="-285750">
              <a:buFont typeface="Arial" panose="020B0604020202020204" pitchFamily="34" charset="0"/>
              <a:buChar char="•"/>
            </a:pPr>
            <a:r>
              <a:rPr lang="en-US" sz="1500" dirty="0"/>
              <a:t>India emerges as the leading country in terms of the number of restaurants, offering the most extensive variety in pricing options—from budget-friendly eateries to premium dining experiences.</a:t>
            </a:r>
          </a:p>
          <a:p>
            <a:pPr marL="285750" indent="-285750">
              <a:buFont typeface="Arial" panose="020B0604020202020204" pitchFamily="34" charset="0"/>
              <a:buChar char="•"/>
            </a:pPr>
            <a:r>
              <a:rPr lang="en-US" sz="1500" dirty="0"/>
              <a:t>Indonesia ranks the lowest in terms of restaurant count and diversity in pricing, indicating limited market saturation and potentially untapped opportunities for entry. </a:t>
            </a:r>
          </a:p>
        </p:txBody>
      </p:sp>
      <p:sp>
        <p:nvSpPr>
          <p:cNvPr id="6" name="TextBox 5">
            <a:extLst>
              <a:ext uri="{FF2B5EF4-FFF2-40B4-BE49-F238E27FC236}">
                <a16:creationId xmlns:a16="http://schemas.microsoft.com/office/drawing/2014/main" id="{F7FED28F-5345-1167-70EB-47ACF0D9698A}"/>
              </a:ext>
            </a:extLst>
          </p:cNvPr>
          <p:cNvSpPr txBox="1"/>
          <p:nvPr/>
        </p:nvSpPr>
        <p:spPr>
          <a:xfrm>
            <a:off x="649358" y="241928"/>
            <a:ext cx="6096000" cy="369332"/>
          </a:xfrm>
          <a:prstGeom prst="rect">
            <a:avLst/>
          </a:prstGeom>
          <a:noFill/>
        </p:spPr>
        <p:txBody>
          <a:bodyPr wrap="square">
            <a:spAutoFit/>
          </a:bodyPr>
          <a:lstStyle/>
          <a:p>
            <a:r>
              <a:rPr lang="en-GB" sz="1800" b="1" dirty="0">
                <a:solidFill>
                  <a:srgbClr val="FF0000"/>
                </a:solidFill>
              </a:rPr>
              <a:t>Analysis of Price Range</a:t>
            </a:r>
            <a:r>
              <a:rPr lang="en-GB" sz="1800" b="1" i="1" dirty="0">
                <a:solidFill>
                  <a:srgbClr val="FF0000"/>
                </a:solidFill>
              </a:rPr>
              <a:t>:</a:t>
            </a:r>
          </a:p>
        </p:txBody>
      </p:sp>
      <p:graphicFrame>
        <p:nvGraphicFramePr>
          <p:cNvPr id="3" name="Chart 2">
            <a:extLst>
              <a:ext uri="{FF2B5EF4-FFF2-40B4-BE49-F238E27FC236}">
                <a16:creationId xmlns:a16="http://schemas.microsoft.com/office/drawing/2014/main" id="{D60090C6-6883-9EB4-366F-8EBA4BE65843}"/>
              </a:ext>
            </a:extLst>
          </p:cNvPr>
          <p:cNvGraphicFramePr>
            <a:graphicFrameLocks/>
          </p:cNvGraphicFramePr>
          <p:nvPr>
            <p:extLst>
              <p:ext uri="{D42A27DB-BD31-4B8C-83A1-F6EECF244321}">
                <p14:modId xmlns:p14="http://schemas.microsoft.com/office/powerpoint/2010/main" val="2528626146"/>
              </p:ext>
            </p:extLst>
          </p:nvPr>
        </p:nvGraphicFramePr>
        <p:xfrm>
          <a:off x="983975" y="2370483"/>
          <a:ext cx="10257182" cy="39060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41638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0FF99E-E414-D1ED-F952-A6F299863C1D}"/>
              </a:ext>
            </a:extLst>
          </p:cNvPr>
          <p:cNvSpPr txBox="1"/>
          <p:nvPr/>
        </p:nvSpPr>
        <p:spPr>
          <a:xfrm>
            <a:off x="1181100" y="300677"/>
            <a:ext cx="9677400" cy="1015663"/>
          </a:xfrm>
          <a:prstGeom prst="rect">
            <a:avLst/>
          </a:prstGeom>
          <a:noFill/>
        </p:spPr>
        <p:txBody>
          <a:bodyPr wrap="square">
            <a:spAutoFit/>
          </a:bodyPr>
          <a:lstStyle/>
          <a:p>
            <a:pPr>
              <a:buNone/>
            </a:pPr>
            <a:r>
              <a:rPr lang="en-US" sz="1500" dirty="0"/>
              <a:t>However, the number of restaurants decreases sharply as the price range increases — most restaurants fall into the lower price range.</a:t>
            </a:r>
          </a:p>
          <a:p>
            <a:pPr>
              <a:buFont typeface="Arial" panose="020B0604020202020204" pitchFamily="34" charset="0"/>
              <a:buChar char="•"/>
            </a:pPr>
            <a:r>
              <a:rPr lang="en-US" sz="1500" dirty="0"/>
              <a:t>Price Range 1: Most restaurants (4444) but lowest average rating (2.38)</a:t>
            </a:r>
          </a:p>
          <a:p>
            <a:pPr>
              <a:buFont typeface="Arial" panose="020B0604020202020204" pitchFamily="34" charset="0"/>
              <a:buChar char="•"/>
            </a:pPr>
            <a:r>
              <a:rPr lang="en-US" sz="1500" dirty="0"/>
              <a:t>Price Range 4: Fewest restaurants (586) but highest average rating (3.84)</a:t>
            </a:r>
          </a:p>
        </p:txBody>
      </p:sp>
      <p:graphicFrame>
        <p:nvGraphicFramePr>
          <p:cNvPr id="2" name="Chart 1">
            <a:extLst>
              <a:ext uri="{FF2B5EF4-FFF2-40B4-BE49-F238E27FC236}">
                <a16:creationId xmlns:a16="http://schemas.microsoft.com/office/drawing/2014/main" id="{92B320CC-C998-4592-20EF-07F75A565D9E}"/>
              </a:ext>
            </a:extLst>
          </p:cNvPr>
          <p:cNvGraphicFramePr>
            <a:graphicFrameLocks/>
          </p:cNvGraphicFramePr>
          <p:nvPr>
            <p:extLst>
              <p:ext uri="{D42A27DB-BD31-4B8C-83A1-F6EECF244321}">
                <p14:modId xmlns:p14="http://schemas.microsoft.com/office/powerpoint/2010/main" val="1169146885"/>
              </p:ext>
            </p:extLst>
          </p:nvPr>
        </p:nvGraphicFramePr>
        <p:xfrm>
          <a:off x="1510235" y="2335696"/>
          <a:ext cx="9138100" cy="40120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9421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7165E537-B86C-452F-D828-7E18E485A86A}"/>
              </a:ext>
            </a:extLst>
          </p:cNvPr>
          <p:cNvSpPr txBox="1"/>
          <p:nvPr/>
        </p:nvSpPr>
        <p:spPr>
          <a:xfrm>
            <a:off x="0" y="-64102"/>
            <a:ext cx="12192000" cy="523220"/>
          </a:xfrm>
          <a:prstGeom prst="rect">
            <a:avLst/>
          </a:prstGeom>
          <a:noFill/>
        </p:spPr>
        <p:txBody>
          <a:bodyPr wrap="square">
            <a:spAutoFit/>
          </a:bodyPr>
          <a:lstStyle/>
          <a:p>
            <a:pPr algn="ctr"/>
            <a:r>
              <a:rPr lang="en-IN" sz="2800" b="1" u="sng" dirty="0">
                <a:solidFill>
                  <a:srgbClr val="FF0000"/>
                </a:solidFill>
                <a:cs typeface="Arial" panose="020B0604020202020204" pitchFamily="34" charset="0"/>
              </a:rPr>
              <a:t>Dashboard</a:t>
            </a:r>
            <a:endParaRPr lang="en-US" sz="2800" b="1" u="sng" dirty="0">
              <a:solidFill>
                <a:srgbClr val="FF0000"/>
              </a:solidFill>
            </a:endParaRPr>
          </a:p>
        </p:txBody>
      </p:sp>
      <p:pic>
        <p:nvPicPr>
          <p:cNvPr id="4" name="Picture 3" descr="A screenshot of a computer&#10;&#10;AI-generated content may be incorrect.">
            <a:extLst>
              <a:ext uri="{FF2B5EF4-FFF2-40B4-BE49-F238E27FC236}">
                <a16:creationId xmlns:a16="http://schemas.microsoft.com/office/drawing/2014/main" id="{FEA8BE78-3983-1DFB-F81A-A04317F703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2956"/>
            <a:ext cx="12192000" cy="5970146"/>
          </a:xfrm>
          <a:prstGeom prst="rect">
            <a:avLst/>
          </a:prstGeom>
        </p:spPr>
      </p:pic>
    </p:spTree>
    <p:extLst>
      <p:ext uri="{BB962C8B-B14F-4D97-AF65-F5344CB8AC3E}">
        <p14:creationId xmlns:p14="http://schemas.microsoft.com/office/powerpoint/2010/main" val="2215267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664B89-F0DC-0E76-EE8C-F794EF4289FD}"/>
              </a:ext>
            </a:extLst>
          </p:cNvPr>
          <p:cNvSpPr txBox="1"/>
          <p:nvPr/>
        </p:nvSpPr>
        <p:spPr>
          <a:xfrm>
            <a:off x="586408" y="210563"/>
            <a:ext cx="2932043" cy="369332"/>
          </a:xfrm>
          <a:prstGeom prst="rect">
            <a:avLst/>
          </a:prstGeom>
          <a:noFill/>
        </p:spPr>
        <p:txBody>
          <a:bodyPr wrap="square">
            <a:spAutoFit/>
          </a:bodyPr>
          <a:lstStyle/>
          <a:p>
            <a:pPr algn="ctr"/>
            <a:r>
              <a:rPr lang="en-IN" b="1" u="sng" dirty="0">
                <a:solidFill>
                  <a:srgbClr val="FF0000"/>
                </a:solidFill>
                <a:cs typeface="Arial" panose="020B0604020202020204" pitchFamily="34" charset="0"/>
              </a:rPr>
              <a:t>Effective Recommendations:</a:t>
            </a:r>
            <a:endParaRPr lang="en-US" b="1" u="sng" dirty="0">
              <a:solidFill>
                <a:srgbClr val="FF0000"/>
              </a:solidFill>
            </a:endParaRPr>
          </a:p>
        </p:txBody>
      </p:sp>
      <p:sp>
        <p:nvSpPr>
          <p:cNvPr id="3" name="TextBox 2">
            <a:extLst>
              <a:ext uri="{FF2B5EF4-FFF2-40B4-BE49-F238E27FC236}">
                <a16:creationId xmlns:a16="http://schemas.microsoft.com/office/drawing/2014/main" id="{564F80F2-16E8-C7F4-70F0-F817DDA8FABC}"/>
              </a:ext>
            </a:extLst>
          </p:cNvPr>
          <p:cNvSpPr txBox="1"/>
          <p:nvPr/>
        </p:nvSpPr>
        <p:spPr>
          <a:xfrm>
            <a:off x="631028" y="1282774"/>
            <a:ext cx="9986963" cy="323165"/>
          </a:xfrm>
          <a:prstGeom prst="rect">
            <a:avLst/>
          </a:prstGeom>
          <a:noFill/>
        </p:spPr>
        <p:txBody>
          <a:bodyPr wrap="square">
            <a:spAutoFit/>
          </a:bodyPr>
          <a:lstStyle/>
          <a:p>
            <a:pPr marL="285750" lvl="0" indent="-285750">
              <a:buFont typeface="Arial" panose="020B0604020202020204" pitchFamily="34" charset="0"/>
              <a:buChar char="•"/>
            </a:pPr>
            <a:r>
              <a:rPr lang="en-GB" sz="1500" dirty="0"/>
              <a:t>Put the attention on creating new eateries in nations with plenty of potentials and friendly rivalry.</a:t>
            </a:r>
            <a:endParaRPr lang="en-US" sz="1500" dirty="0"/>
          </a:p>
        </p:txBody>
      </p:sp>
      <p:sp>
        <p:nvSpPr>
          <p:cNvPr id="7" name="TextBox 6">
            <a:extLst>
              <a:ext uri="{FF2B5EF4-FFF2-40B4-BE49-F238E27FC236}">
                <a16:creationId xmlns:a16="http://schemas.microsoft.com/office/drawing/2014/main" id="{1C089005-A0ED-5940-2D34-AA7CB5394571}"/>
              </a:ext>
            </a:extLst>
          </p:cNvPr>
          <p:cNvSpPr txBox="1"/>
          <p:nvPr/>
        </p:nvSpPr>
        <p:spPr>
          <a:xfrm>
            <a:off x="631029" y="1831765"/>
            <a:ext cx="9986962" cy="323165"/>
          </a:xfrm>
          <a:prstGeom prst="rect">
            <a:avLst/>
          </a:prstGeom>
          <a:noFill/>
        </p:spPr>
        <p:txBody>
          <a:bodyPr wrap="square">
            <a:spAutoFit/>
          </a:bodyPr>
          <a:lstStyle/>
          <a:p>
            <a:pPr marL="285750" lvl="0" indent="-285750">
              <a:buFont typeface="Arial" panose="020B0604020202020204" pitchFamily="34" charset="0"/>
              <a:buChar char="•"/>
            </a:pPr>
            <a:r>
              <a:rPr lang="en-IN" sz="1500" dirty="0"/>
              <a:t>For the best market entry , give preference to nations with fewer restaurants.</a:t>
            </a:r>
            <a:endParaRPr lang="en-US" sz="1500" dirty="0"/>
          </a:p>
        </p:txBody>
      </p:sp>
      <p:sp>
        <p:nvSpPr>
          <p:cNvPr id="9" name="TextBox 8">
            <a:extLst>
              <a:ext uri="{FF2B5EF4-FFF2-40B4-BE49-F238E27FC236}">
                <a16:creationId xmlns:a16="http://schemas.microsoft.com/office/drawing/2014/main" id="{71CFB07F-8D4C-9C33-00B6-02984BDE4C1E}"/>
              </a:ext>
            </a:extLst>
          </p:cNvPr>
          <p:cNvSpPr txBox="1"/>
          <p:nvPr/>
        </p:nvSpPr>
        <p:spPr>
          <a:xfrm>
            <a:off x="631029" y="2380756"/>
            <a:ext cx="9986962" cy="323165"/>
          </a:xfrm>
          <a:prstGeom prst="rect">
            <a:avLst/>
          </a:prstGeom>
          <a:noFill/>
        </p:spPr>
        <p:txBody>
          <a:bodyPr wrap="square">
            <a:spAutoFit/>
          </a:bodyPr>
          <a:lstStyle/>
          <a:p>
            <a:pPr marL="285750" lvl="0" indent="-285750">
              <a:buFont typeface="Arial" panose="020B0604020202020204" pitchFamily="34" charset="0"/>
              <a:buChar char="•"/>
            </a:pPr>
            <a:r>
              <a:rPr lang="en-US" sz="1500" dirty="0"/>
              <a:t>Areas with room for expansion or higher level of customer intersections are highlighted by restaurant density analysis.</a:t>
            </a:r>
          </a:p>
        </p:txBody>
      </p:sp>
      <p:sp>
        <p:nvSpPr>
          <p:cNvPr id="11" name="TextBox 10">
            <a:extLst>
              <a:ext uri="{FF2B5EF4-FFF2-40B4-BE49-F238E27FC236}">
                <a16:creationId xmlns:a16="http://schemas.microsoft.com/office/drawing/2014/main" id="{1B3C2404-7793-BB53-0EF5-9A43F9998365}"/>
              </a:ext>
            </a:extLst>
          </p:cNvPr>
          <p:cNvSpPr txBox="1"/>
          <p:nvPr/>
        </p:nvSpPr>
        <p:spPr>
          <a:xfrm>
            <a:off x="631029" y="3039262"/>
            <a:ext cx="10072688" cy="323165"/>
          </a:xfrm>
          <a:prstGeom prst="rect">
            <a:avLst/>
          </a:prstGeom>
          <a:noFill/>
        </p:spPr>
        <p:txBody>
          <a:bodyPr wrap="square">
            <a:spAutoFit/>
          </a:bodyPr>
          <a:lstStyle/>
          <a:p>
            <a:pPr marL="285750" lvl="0" indent="-285750">
              <a:buFont typeface="Arial" panose="020B0604020202020204" pitchFamily="34" charset="0"/>
              <a:buChar char="•"/>
            </a:pPr>
            <a:r>
              <a:rPr lang="en-US" sz="1500" dirty="0"/>
              <a:t>Effective development that increases profitability.</a:t>
            </a:r>
          </a:p>
        </p:txBody>
      </p:sp>
      <p:sp>
        <p:nvSpPr>
          <p:cNvPr id="13" name="TextBox 12">
            <a:extLst>
              <a:ext uri="{FF2B5EF4-FFF2-40B4-BE49-F238E27FC236}">
                <a16:creationId xmlns:a16="http://schemas.microsoft.com/office/drawing/2014/main" id="{657B7E6A-F932-BE6D-C5B2-0DB08BEED03C}"/>
              </a:ext>
            </a:extLst>
          </p:cNvPr>
          <p:cNvSpPr txBox="1"/>
          <p:nvPr/>
        </p:nvSpPr>
        <p:spPr>
          <a:xfrm>
            <a:off x="631029" y="3588253"/>
            <a:ext cx="10106024" cy="553998"/>
          </a:xfrm>
          <a:prstGeom prst="rect">
            <a:avLst/>
          </a:prstGeom>
          <a:noFill/>
        </p:spPr>
        <p:txBody>
          <a:bodyPr wrap="square">
            <a:spAutoFit/>
          </a:bodyPr>
          <a:lstStyle/>
          <a:p>
            <a:pPr marL="285750" lvl="0" indent="-285750">
              <a:buFont typeface="Arial" panose="020B0604020202020204" pitchFamily="34" charset="0"/>
              <a:buChar char="•"/>
            </a:pPr>
            <a:r>
              <a:rPr lang="en-US" sz="1500" dirty="0"/>
              <a:t>Finding the largest rival aids in comprehending the market and their tactics. Strategizes for differencing newer eateries can benefit from this information. </a:t>
            </a:r>
          </a:p>
        </p:txBody>
      </p:sp>
      <p:sp>
        <p:nvSpPr>
          <p:cNvPr id="15" name="TextBox 14">
            <a:extLst>
              <a:ext uri="{FF2B5EF4-FFF2-40B4-BE49-F238E27FC236}">
                <a16:creationId xmlns:a16="http://schemas.microsoft.com/office/drawing/2014/main" id="{03783442-1B73-2115-0815-3339F9142273}"/>
              </a:ext>
            </a:extLst>
          </p:cNvPr>
          <p:cNvSpPr txBox="1"/>
          <p:nvPr/>
        </p:nvSpPr>
        <p:spPr>
          <a:xfrm>
            <a:off x="631030" y="4383465"/>
            <a:ext cx="10106023" cy="553998"/>
          </a:xfrm>
          <a:prstGeom prst="rect">
            <a:avLst/>
          </a:prstGeom>
          <a:noFill/>
        </p:spPr>
        <p:txBody>
          <a:bodyPr wrap="square">
            <a:spAutoFit/>
          </a:bodyPr>
          <a:lstStyle/>
          <a:p>
            <a:pPr marL="285750" lvl="0" indent="-285750">
              <a:buFont typeface="Arial" panose="020B0604020202020204" pitchFamily="34" charset="0"/>
              <a:buChar char="•"/>
            </a:pPr>
            <a:r>
              <a:rPr lang="en-US" sz="1500" dirty="0"/>
              <a:t>Understanding customer sentiment can provide insights into preferences and areas for improvement and high-quality cuisines and strategic pricing help to attract and retain customers effectively .</a:t>
            </a:r>
          </a:p>
        </p:txBody>
      </p:sp>
      <p:sp>
        <p:nvSpPr>
          <p:cNvPr id="17" name="TextBox 16">
            <a:extLst>
              <a:ext uri="{FF2B5EF4-FFF2-40B4-BE49-F238E27FC236}">
                <a16:creationId xmlns:a16="http://schemas.microsoft.com/office/drawing/2014/main" id="{7A947D4F-743B-3601-A9D1-94919007529C}"/>
              </a:ext>
            </a:extLst>
          </p:cNvPr>
          <p:cNvSpPr txBox="1"/>
          <p:nvPr/>
        </p:nvSpPr>
        <p:spPr>
          <a:xfrm>
            <a:off x="700086" y="5178677"/>
            <a:ext cx="10106023" cy="323165"/>
          </a:xfrm>
          <a:prstGeom prst="rect">
            <a:avLst/>
          </a:prstGeom>
          <a:noFill/>
        </p:spPr>
        <p:txBody>
          <a:bodyPr wrap="square">
            <a:spAutoFit/>
          </a:bodyPr>
          <a:lstStyle/>
          <a:p>
            <a:pPr marL="285750" lvl="0" indent="-285750">
              <a:buFont typeface="Arial" panose="020B0604020202020204" pitchFamily="34" charset="0"/>
              <a:buChar char="•"/>
            </a:pPr>
            <a:r>
              <a:rPr lang="en-IN" sz="1500" dirty="0"/>
              <a:t>Adding an online delivery and booking system will increase customer satisfaction and boost rating an votes.</a:t>
            </a:r>
            <a:endParaRPr lang="en-US" sz="1500" dirty="0"/>
          </a:p>
        </p:txBody>
      </p:sp>
    </p:spTree>
    <p:extLst>
      <p:ext uri="{BB962C8B-B14F-4D97-AF65-F5344CB8AC3E}">
        <p14:creationId xmlns:p14="http://schemas.microsoft.com/office/powerpoint/2010/main" val="3311442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821AB78-EB3E-A2BC-2898-07DE54FBF5E0}"/>
              </a:ext>
            </a:extLst>
          </p:cNvPr>
          <p:cNvSpPr txBox="1"/>
          <p:nvPr/>
        </p:nvSpPr>
        <p:spPr>
          <a:xfrm>
            <a:off x="580609" y="207066"/>
            <a:ext cx="1819687" cy="369332"/>
          </a:xfrm>
          <a:prstGeom prst="rect">
            <a:avLst/>
          </a:prstGeom>
          <a:noFill/>
        </p:spPr>
        <p:txBody>
          <a:bodyPr wrap="square">
            <a:spAutoFit/>
          </a:bodyPr>
          <a:lstStyle/>
          <a:p>
            <a:pPr algn="ctr"/>
            <a:r>
              <a:rPr lang="en-IN" b="1" u="sng" dirty="0">
                <a:solidFill>
                  <a:srgbClr val="FF0000"/>
                </a:solidFill>
                <a:cs typeface="Arial" panose="020B0604020202020204" pitchFamily="34" charset="0"/>
              </a:rPr>
              <a:t>Final Outcomes:</a:t>
            </a:r>
            <a:endParaRPr lang="en-US" b="1" u="sng" dirty="0">
              <a:solidFill>
                <a:srgbClr val="FF0000"/>
              </a:solidFill>
            </a:endParaRPr>
          </a:p>
        </p:txBody>
      </p:sp>
      <p:sp>
        <p:nvSpPr>
          <p:cNvPr id="3" name="TextBox 2">
            <a:extLst>
              <a:ext uri="{FF2B5EF4-FFF2-40B4-BE49-F238E27FC236}">
                <a16:creationId xmlns:a16="http://schemas.microsoft.com/office/drawing/2014/main" id="{D83933D2-BDF7-BB77-419E-ACC3AEF0BB5C}"/>
              </a:ext>
            </a:extLst>
          </p:cNvPr>
          <p:cNvSpPr txBox="1"/>
          <p:nvPr/>
        </p:nvSpPr>
        <p:spPr>
          <a:xfrm>
            <a:off x="615400" y="2806596"/>
            <a:ext cx="6819900" cy="569387"/>
          </a:xfrm>
          <a:prstGeom prst="rect">
            <a:avLst/>
          </a:prstGeom>
          <a:noFill/>
        </p:spPr>
        <p:txBody>
          <a:bodyPr wrap="square">
            <a:spAutoFit/>
          </a:bodyPr>
          <a:lstStyle/>
          <a:p>
            <a:pPr marL="285750" lvl="0" indent="-285750">
              <a:buFont typeface="Arial" panose="020B0604020202020204" pitchFamily="34" charset="0"/>
              <a:buChar char="•"/>
            </a:pPr>
            <a:r>
              <a:rPr lang="en-US" sz="1500" b="1" i="1" dirty="0"/>
              <a:t>Top Cuisines: </a:t>
            </a:r>
            <a:r>
              <a:rPr lang="en-US" sz="1500" dirty="0"/>
              <a:t>Identified the 10 highest-rated cuisines, providing a clear view of customer preferences and helping target marketing strategies effectively.</a:t>
            </a:r>
          </a:p>
        </p:txBody>
      </p:sp>
      <p:sp>
        <p:nvSpPr>
          <p:cNvPr id="7" name="TextBox 6">
            <a:extLst>
              <a:ext uri="{FF2B5EF4-FFF2-40B4-BE49-F238E27FC236}">
                <a16:creationId xmlns:a16="http://schemas.microsoft.com/office/drawing/2014/main" id="{F07BD908-8682-B19D-C097-5B552B4DCF71}"/>
              </a:ext>
            </a:extLst>
          </p:cNvPr>
          <p:cNvSpPr txBox="1"/>
          <p:nvPr/>
        </p:nvSpPr>
        <p:spPr>
          <a:xfrm>
            <a:off x="615400" y="3451241"/>
            <a:ext cx="6648450" cy="800219"/>
          </a:xfrm>
          <a:prstGeom prst="rect">
            <a:avLst/>
          </a:prstGeom>
          <a:noFill/>
        </p:spPr>
        <p:txBody>
          <a:bodyPr wrap="square">
            <a:spAutoFit/>
          </a:bodyPr>
          <a:lstStyle/>
          <a:p>
            <a:pPr marL="285750" lvl="0" indent="-285750">
              <a:buFont typeface="Arial" panose="020B0604020202020204" pitchFamily="34" charset="0"/>
              <a:buChar char="•"/>
            </a:pPr>
            <a:r>
              <a:rPr lang="en-US" sz="1500" b="1" i="1" dirty="0"/>
              <a:t>Market Opportunities: </a:t>
            </a:r>
            <a:r>
              <a:rPr lang="en-US" sz="1500" dirty="0"/>
              <a:t>Highlighted regions with significant restaurant density and performance, suggesting optimal areas for expansion and new location openings.</a:t>
            </a:r>
          </a:p>
        </p:txBody>
      </p:sp>
      <p:sp>
        <p:nvSpPr>
          <p:cNvPr id="9" name="TextBox 8">
            <a:extLst>
              <a:ext uri="{FF2B5EF4-FFF2-40B4-BE49-F238E27FC236}">
                <a16:creationId xmlns:a16="http://schemas.microsoft.com/office/drawing/2014/main" id="{A98EB0A4-0D67-5244-9C0E-8557A11D6AE7}"/>
              </a:ext>
            </a:extLst>
          </p:cNvPr>
          <p:cNvSpPr txBox="1"/>
          <p:nvPr/>
        </p:nvSpPr>
        <p:spPr>
          <a:xfrm>
            <a:off x="615400" y="1944822"/>
            <a:ext cx="6515100" cy="815608"/>
          </a:xfrm>
          <a:prstGeom prst="rect">
            <a:avLst/>
          </a:prstGeom>
          <a:noFill/>
        </p:spPr>
        <p:txBody>
          <a:bodyPr wrap="square">
            <a:spAutoFit/>
          </a:bodyPr>
          <a:lstStyle/>
          <a:p>
            <a:pPr marL="285750" lvl="0" indent="-285750">
              <a:buFont typeface="Arial" panose="020B0604020202020204" pitchFamily="34" charset="0"/>
              <a:buChar char="•"/>
            </a:pPr>
            <a:r>
              <a:rPr lang="en-US" sz="1500" b="1" i="1" dirty="0"/>
              <a:t>Customer Satisfaction: </a:t>
            </a:r>
            <a:r>
              <a:rPr lang="en-US" sz="1500" dirty="0"/>
              <a:t>Analyzed average ratings alongside the number of restaurants, advocating for enhanced cuisine variety and quality to improve customer experiences.</a:t>
            </a:r>
          </a:p>
        </p:txBody>
      </p:sp>
      <p:sp>
        <p:nvSpPr>
          <p:cNvPr id="11" name="TextBox 10">
            <a:extLst>
              <a:ext uri="{FF2B5EF4-FFF2-40B4-BE49-F238E27FC236}">
                <a16:creationId xmlns:a16="http://schemas.microsoft.com/office/drawing/2014/main" id="{7AC236A1-4CE3-7443-82BA-2FA511C292C2}"/>
              </a:ext>
            </a:extLst>
          </p:cNvPr>
          <p:cNvSpPr txBox="1"/>
          <p:nvPr/>
        </p:nvSpPr>
        <p:spPr>
          <a:xfrm>
            <a:off x="610430" y="1211163"/>
            <a:ext cx="7181850" cy="569387"/>
          </a:xfrm>
          <a:prstGeom prst="rect">
            <a:avLst/>
          </a:prstGeom>
          <a:noFill/>
        </p:spPr>
        <p:txBody>
          <a:bodyPr wrap="square">
            <a:spAutoFit/>
          </a:bodyPr>
          <a:lstStyle/>
          <a:p>
            <a:pPr marL="285750" lvl="0" indent="-285750">
              <a:buFont typeface="Arial" panose="020B0604020202020204" pitchFamily="34" charset="0"/>
              <a:buChar char="•"/>
            </a:pPr>
            <a:r>
              <a:rPr lang="en-US" sz="1500" b="1" i="1" dirty="0"/>
              <a:t>Data Integrity</a:t>
            </a:r>
            <a:r>
              <a:rPr lang="en-US" sz="1500" b="1" dirty="0"/>
              <a:t>:</a:t>
            </a:r>
            <a:r>
              <a:rPr lang="en-US" sz="1500" b="1" dirty="0">
                <a:solidFill>
                  <a:srgbClr val="0070C0"/>
                </a:solidFill>
              </a:rPr>
              <a:t> </a:t>
            </a:r>
            <a:r>
              <a:rPr lang="en-US" sz="1500" dirty="0"/>
              <a:t>Addressed inconsistencies in restaurant IDs and missing values, reinforcing the importance of clean data for reliable insights and decision-making.</a:t>
            </a:r>
          </a:p>
        </p:txBody>
      </p:sp>
      <p:sp>
        <p:nvSpPr>
          <p:cNvPr id="13" name="TextBox 12">
            <a:extLst>
              <a:ext uri="{FF2B5EF4-FFF2-40B4-BE49-F238E27FC236}">
                <a16:creationId xmlns:a16="http://schemas.microsoft.com/office/drawing/2014/main" id="{69DEAB3C-884E-90FA-C062-2C62196332AD}"/>
              </a:ext>
            </a:extLst>
          </p:cNvPr>
          <p:cNvSpPr txBox="1"/>
          <p:nvPr/>
        </p:nvSpPr>
        <p:spPr>
          <a:xfrm>
            <a:off x="1252538" y="5540870"/>
            <a:ext cx="9553574" cy="553998"/>
          </a:xfrm>
          <a:prstGeom prst="rect">
            <a:avLst/>
          </a:prstGeom>
          <a:noFill/>
        </p:spPr>
        <p:txBody>
          <a:bodyPr wrap="square">
            <a:spAutoFit/>
          </a:bodyPr>
          <a:lstStyle/>
          <a:p>
            <a:pPr lvl="0"/>
            <a:r>
              <a:rPr lang="en-US" sz="1500" dirty="0"/>
              <a:t>This analysis not only uncovers critical insights about market dynamics and customer preferences but also paves the way for strategic actions that can enhance market penetration and customer satisfaction.</a:t>
            </a:r>
          </a:p>
        </p:txBody>
      </p:sp>
    </p:spTree>
    <p:extLst>
      <p:ext uri="{BB962C8B-B14F-4D97-AF65-F5344CB8AC3E}">
        <p14:creationId xmlns:p14="http://schemas.microsoft.com/office/powerpoint/2010/main" val="2214126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8DD5E6-4DE5-1AB2-9BBE-8639096C842D}"/>
              </a:ext>
            </a:extLst>
          </p:cNvPr>
          <p:cNvSpPr txBox="1"/>
          <p:nvPr/>
        </p:nvSpPr>
        <p:spPr>
          <a:xfrm>
            <a:off x="2381250" y="2276475"/>
            <a:ext cx="7191375" cy="1862048"/>
          </a:xfrm>
          <a:prstGeom prst="rect">
            <a:avLst/>
          </a:prstGeom>
          <a:noFill/>
        </p:spPr>
        <p:txBody>
          <a:bodyPr wrap="square" rtlCol="0">
            <a:spAutoFit/>
          </a:bodyPr>
          <a:lstStyle/>
          <a:p>
            <a:pPr algn="ctr"/>
            <a:r>
              <a:rPr lang="en-GB" sz="11500" dirty="0">
                <a:ln w="0">
                  <a:solidFill>
                    <a:schemeClr val="tx1"/>
                  </a:solidFill>
                </a:ln>
                <a:gradFill>
                  <a:gsLst>
                    <a:gs pos="0">
                      <a:schemeClr val="accent5">
                        <a:lumMod val="50000"/>
                      </a:schemeClr>
                    </a:gs>
                    <a:gs pos="50000">
                      <a:schemeClr val="accent5"/>
                    </a:gs>
                    <a:gs pos="100000">
                      <a:schemeClr val="accent5">
                        <a:lumMod val="60000"/>
                        <a:lumOff val="40000"/>
                      </a:schemeClr>
                    </a:gs>
                  </a:gsLst>
                  <a:lin ang="5400000"/>
                </a:gradFill>
                <a:effectLst/>
              </a:rPr>
              <a:t>Thank</a:t>
            </a:r>
            <a:r>
              <a:rPr lang="en-GB" sz="115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GB" sz="11500" dirty="0">
                <a:ln w="0">
                  <a:solidFill>
                    <a:schemeClr val="tx1"/>
                  </a:solidFill>
                </a:ln>
                <a:gradFill>
                  <a:gsLst>
                    <a:gs pos="0">
                      <a:schemeClr val="accent5">
                        <a:lumMod val="50000"/>
                      </a:schemeClr>
                    </a:gs>
                    <a:gs pos="50000">
                      <a:schemeClr val="accent5"/>
                    </a:gs>
                    <a:gs pos="100000">
                      <a:schemeClr val="accent5">
                        <a:lumMod val="60000"/>
                        <a:lumOff val="40000"/>
                      </a:schemeClr>
                    </a:gs>
                  </a:gsLst>
                  <a:lin ang="5400000"/>
                </a:gradFill>
                <a:effectLst/>
              </a:rPr>
              <a:t>You</a:t>
            </a:r>
            <a:endParaRPr lang="en-US" sz="11500" dirty="0">
              <a:ln w="0">
                <a:solidFill>
                  <a:schemeClr val="tx1"/>
                </a:solidFill>
              </a:ln>
              <a:effectLst/>
            </a:endParaRPr>
          </a:p>
        </p:txBody>
      </p:sp>
    </p:spTree>
    <p:extLst>
      <p:ext uri="{BB962C8B-B14F-4D97-AF65-F5344CB8AC3E}">
        <p14:creationId xmlns:p14="http://schemas.microsoft.com/office/powerpoint/2010/main" val="27827082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7458</TotalTime>
  <Words>1470</Words>
  <Application>Microsoft Office PowerPoint</Application>
  <PresentationFormat>Widescreen</PresentationFormat>
  <Paragraphs>175</Paragraphs>
  <Slides>24</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Agency FB</vt:lpstr>
      <vt:lpstr>Arial</vt:lpstr>
      <vt:lpstr>Bahnschrift SemiLight Condensed</vt:lpstr>
      <vt:lpstr>Book Antiqua</vt:lpstr>
      <vt:lpstr>Calibri</vt:lpstr>
      <vt:lpstr>Calibri Light</vt:lpstr>
      <vt:lpstr>Century Gothic</vt:lpstr>
      <vt:lpstr>Lato</vt:lpstr>
      <vt:lpstr>Lato Heavy</vt:lpstr>
      <vt:lpstr>Montserrat</vt:lpstr>
      <vt:lpstr>Segoe UI</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tuhina ghosh</dc:creator>
  <cp:lastModifiedBy>mi book</cp:lastModifiedBy>
  <cp:revision>2</cp:revision>
  <dcterms:created xsi:type="dcterms:W3CDTF">2025-06-15T19:44:12Z</dcterms:created>
  <dcterms:modified xsi:type="dcterms:W3CDTF">2025-11-01T15:42:26Z</dcterms:modified>
</cp:coreProperties>
</file>